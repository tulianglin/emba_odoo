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2"/>
  </p:notesMasterIdLst>
  <p:sldIdLst>
    <p:sldId id="256" r:id="rId2"/>
    <p:sldId id="257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6" r:id="rId78"/>
    <p:sldId id="337" r:id="rId79"/>
    <p:sldId id="338" r:id="rId80"/>
    <p:sldId id="339" r:id="rId81"/>
    <p:sldId id="340" r:id="rId82"/>
    <p:sldId id="341" r:id="rId83"/>
    <p:sldId id="342" r:id="rId84"/>
    <p:sldId id="343" r:id="rId85"/>
    <p:sldId id="344" r:id="rId86"/>
    <p:sldId id="345" r:id="rId87"/>
    <p:sldId id="346" r:id="rId88"/>
    <p:sldId id="347" r:id="rId89"/>
    <p:sldId id="348" r:id="rId90"/>
    <p:sldId id="349" r:id="rId91"/>
    <p:sldId id="350" r:id="rId92"/>
    <p:sldId id="351" r:id="rId93"/>
    <p:sldId id="352" r:id="rId94"/>
    <p:sldId id="353" r:id="rId95"/>
    <p:sldId id="354" r:id="rId96"/>
    <p:sldId id="355" r:id="rId97"/>
    <p:sldId id="356" r:id="rId98"/>
    <p:sldId id="357" r:id="rId99"/>
    <p:sldId id="358" r:id="rId100"/>
    <p:sldId id="359" r:id="rId101"/>
    <p:sldId id="360" r:id="rId102"/>
    <p:sldId id="361" r:id="rId103"/>
    <p:sldId id="362" r:id="rId104"/>
    <p:sldId id="363" r:id="rId105"/>
    <p:sldId id="364" r:id="rId106"/>
    <p:sldId id="368" r:id="rId107"/>
    <p:sldId id="369" r:id="rId108"/>
    <p:sldId id="370" r:id="rId109"/>
    <p:sldId id="371" r:id="rId110"/>
    <p:sldId id="375" r:id="rId1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6525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S1｜封面（★深講・1 分）</a:t>
            </a:r>
          </a:p>
          <a:p>
            <a:endParaRPr/>
          </a:p>
          <a:p>
            <a:r>
              <a:t>各位學長姐，午安，歡迎來到「顧客關係管理實務：以 Odoo CRM 為例」。我是林土量，接下來五個小時由我陪各位走完這門課。</a:t>
            </a:r>
          </a:p>
          <a:p>
            <a:r>
              <a:t>先講清楚這門課的性質：它不是一門「聽的課」，是一門「做的課」。今天下午結束的時候，每一位離開這間教室，手上都會有一套自己的、免費的、不會到期的雲端 CRM 系統——網址就叫你自己取的名字點 odoo 點 com。</a:t>
            </a:r>
          </a:p>
          <a:p>
            <a:r>
              <a:t>【環視全場，放慢語速】</a:t>
            </a:r>
          </a:p>
          <a:p>
            <a:r>
              <a:t>看封面下方四個標籤，就是今天的規格：五小時電腦教室實作、Odoo Online 免費方案、免安裝免自建主機、每人一套雲端系統。</a:t>
            </a:r>
          </a:p>
          <a:p>
            <a:r>
              <a:t>今天唯一的規則只有一條：我做一步、你跟一步。卡住了就舉手，你隔壁的同學就是你的第一線救援，我是第二線。我們開始。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S2｜為什麼 EMBA 要親手做（★深講・2 分）</a:t>
            </a:r>
          </a:p>
          <a:p>
            <a:endParaRPr/>
          </a:p>
          <a:p>
            <a:r>
              <a:t>【開場先發問，點 2–3 位，只覆述、不評論】</a:t>
            </a:r>
          </a:p>
          <a:p>
            <a:r>
              <a:t>進入正題之前，先問各位一個問題：你們公司的客戶名單，現在放在哪裡？來，這位學長……Excel。這位……業務自己的 LINE。還有嗎？……對，還有一個地方——某位資深同仁的腦袋裡。</a:t>
            </a:r>
          </a:p>
          <a:p>
            <a:r>
              <a:t>把這三個答案記著，看第一張卡：多數 CRM 導入案是高階主管拍板的，但拍板的人往往沒有摸過系統，只看過廠商的簡報——所以採購和驗收的判斷，一開始就失真了。</a:t>
            </a:r>
          </a:p>
          <a:p>
            <a:r>
              <a:t>第二張卡：CRM 是企業數位化最常見的起點——門檻低、能見度高、直接連著營收，它是理解「系統、流程、人」三者關係最好的教材；學會了它的導入方法，之後導 ERP、導 AI，方法論是通用的。</a:t>
            </a:r>
          </a:p>
          <a:p>
            <a:r>
              <a:t>第三張卡講的是各位每天在做的事：評報價、審預算、訂 KPI、驗收導入成效——這些管理動作，都需要「實際操作過」的體感當支撐。沒摸過系統的人訂 KPI，就像沒開過車的人設計道路。</a:t>
            </a:r>
          </a:p>
          <a:p>
            <a:r>
              <a:t>最下面這行數字請看一眼：研究機構長年追蹤，CRM 導入失敗率大約三成到七成。重點不是數字本身，是死因——失敗的極少是技術，多數是「行為」。</a:t>
            </a:r>
          </a:p>
          <a:p>
            <a:r>
              <a:t>★金句：而行為，正是在座各位的管轄範圍。這就是這門課開給 EMBA、而不是開給工程師的原因。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S6｜嘉禾案例深度卡（★深講・2 分）</a:t>
            </a:r>
          </a:p>
          <a:p>
            <a:endParaRPr/>
          </a:p>
          <a:p>
            <a:r>
              <a:t>先花兩分鐘認識你的新公司。左邊是公司輪廓：三條產品線——經典禮盒八百、木盒精裝一千五、客製聯名款；三類客群——企業節慶採購、福委會團購、飯店通路；業務團隊四個人加一位主管，旺季在端午和年節前兩個月。最關鍵是最後一條現況：客戶名單在 Excel、往來紀錄在個人 LINE 跟信箱——各位剛剛自己就是這樣回答的，對吧？</a:t>
            </a:r>
          </a:p>
          <a:p>
            <a:r>
              <a:t>【唸右欄四個問題，每唸一題停半秒】</a:t>
            </a:r>
          </a:p>
          <a:p>
            <a:r>
              <a:t>右邊，是嘉禾老闆睡不著的四個問題。第一題：「這一季到底會做多少？」每次問業務，答案都是感覺。第二題：「上次答應台塑什麼條件？」只有承辦業務記得。第三題：「為什麼輸給對手？」沒有人統計過原因。第四題：「資深業務要退休了」——三十年的客戶關係，怎麼交接？</a:t>
            </a:r>
          </a:p>
          <a:p>
            <a:r>
              <a:t>★金句：請記住這四題。它們正好對應今天下午的四個時段——下課的時候，每一題都會有系統化的答案。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S7｜六家客戶登場（◐快講・1.5 分）</a:t>
            </a:r>
          </a:p>
          <a:p>
            <a:endParaRPr/>
          </a:p>
          <a:p>
            <a:r>
              <a:t>這張表是你手上的生意，六筆，合計一百六十萬。逐筆看：台塑企業年節禮盒，四十萬，等一下的第一筆示範商機；中鋼福委會中秋禮盒，二十六萬——第三節它會成為全班第一筆成交；晶華酒店房內茶包，十八萬——第四節它會先輸單、再被你用手機救回來；台積電尾牙伴手禮，五十二萬，金額最大，是第五節報表判讀的主角；玉山銀行 VIP 禮盒，十五萬，第三節末你會用它完整跑一單；誠品書店聯名禮盒，九萬——它會因為價格過高變成損失樣本。</a:t>
            </a:r>
          </a:p>
          <a:p>
            <a:r>
              <a:t>提醒一件事：第二節輸入的時候，金額請照這張表打——一塊錢都別改，第五節全班的報表才能對答案。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S9｜第一節開場（分節頁）（★深講・1 分）</a:t>
            </a:r>
          </a:p>
          <a:p>
            <a:endParaRPr/>
          </a:p>
          <a:p>
            <a:r>
              <a:t>第一節，五十五分鐘，兩個任務。前半段，建立管理語言：什麼是 CRM、常見的三個誤解、一位客戶值多少錢、漏斗怎麼算、還有——為什麼有系統可以免費用。後半段，全班動手：每個人開通一套自己的 Odoo，切成繁體中文，把介面逛一圈。</a:t>
            </a:r>
          </a:p>
          <a:p>
            <a:r>
              <a:t>【宣告時間錨點】</a:t>
            </a:r>
          </a:p>
          <a:p>
            <a:r>
              <a:t>現在計時開始。五十五分鐘後，你會擁有一套屬於自己的雲端系統。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S10｜CRM 三層定義（★深講・2.5 分）</a:t>
            </a:r>
          </a:p>
          <a:p>
            <a:endParaRPr/>
          </a:p>
          <a:p>
            <a:r>
              <a:t>第一個問題：什麼是 CRM？多數人的答案是「一套軟體」。這門課要先把這個印象拆掉——CRM 是三層同心圓。</a:t>
            </a:r>
          </a:p>
          <a:p>
            <a:r>
              <a:t>【手勢由外往內畫圈，逐層指投影片】</a:t>
            </a:r>
          </a:p>
          <a:p>
            <a:r>
              <a:t>最外層，「經營理念」：以客戶的長期價值為中心配置資源——不是把每個客戶都當一次性交易。中間層，「流程與方法」：怎麼獲取、發展、留住客戶——資格判斷、階段推進、跟進節奏、贏輸覆盤，這一層是今天的主角。最內層，才是「軟體工具」：把前兩層做得出來、量得出來的載體——今天要開通的 Odoo，只是這一層。</a:t>
            </a:r>
          </a:p>
          <a:p>
            <a:r>
              <a:t>★金句：請把這句話記下來，抄在手冊第一頁：買軟體，只買到最內層；外面兩層——理念與流程——要靠管理者自己建。</a:t>
            </a:r>
          </a:p>
          <a:p>
            <a:r>
              <a:t>這是今天的第一句話，也會是最後一句話。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S11｜三個誤解（★深講・2.5 分）</a:t>
            </a:r>
          </a:p>
          <a:p>
            <a:endParaRPr/>
          </a:p>
          <a:p>
            <a:r>
              <a:t>三個常見誤解，一次拆掉。</a:t>
            </a:r>
          </a:p>
          <a:p>
            <a:r>
              <a:t>誤解一：「CRM 等於一套軟體」。軟體只是載體——沒有流程與紀律，換十套系統，結果一樣。各位如果聽過哪家公司說「我們導入過三套 CRM 都失敗」，病因幾乎都在這：工具治不了行為。</a:t>
            </a:r>
          </a:p>
          <a:p>
            <a:r>
              <a:t>誤解二：「CRM 是大企業的專利」。等一下你會親眼看到，五個人的團隊今天下午就能免費上線。而且反過來講，中小企業才是「客戶資料全在老臣腦袋」風險最高的一群——大公司有制度撐著，小公司只有人。</a:t>
            </a:r>
          </a:p>
          <a:p>
            <a:r>
              <a:t>誤解三：「CRM 是業務部門的事」。客戶資料是「全公司的資產負債表」：行銷靠它分眾、客服靠它接手、財務靠它預測、而各位——主管靠它開會。</a:t>
            </a:r>
          </a:p>
          <a:p>
            <a:r>
              <a:t>所以結論是，投影片最下面那句 EMBA 視角：CRM 案的成敗責任，在總經理室，不在資訊室。這也是各位今天坐在這裡的理由。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S12｜四十年演進（◐快講・1.5 分）</a:t>
            </a:r>
          </a:p>
          <a:p>
            <a:endParaRPr/>
          </a:p>
          <a:p>
            <a:r>
              <a:t>【指著時間軸從左掃到右】</a:t>
            </a:r>
          </a:p>
          <a:p>
            <a:r>
              <a:t>用九十秒走完四十年，每個年代記一件事。八〇年代，名片盒加通訊錄，Rolodex 和 DM 名單——客戶資料第一次被「集中」。九〇年代，SFA 銷售自動化單機軟體，記錄拜訪與訂單——銷售行為第一次被「記錄」。二〇〇〇年代，套裝 CRM 上雲、SaaS 訂閱制興起——中小企業第一次「租得起」，免建機房。二〇一〇年代，行動加社群整合，手機即時輸入——資料第一次能「當下輸入」，不必回辦公室補登。二〇二〇年代，AI 加開源普及：預測評分、生成式 AI，免費方案把門檻降到零。</a:t>
            </a:r>
          </a:p>
          <a:p>
            <a:r>
              <a:t>落點一句話：雲端訂閱加開源生態，把 CRM 從「百萬級專案」變成「今天下午就能免費開通」——這段歷史，正是本課成立的原因，我們等一下就是它的直接受益人。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S13｜Excel 升級八訊號（★深講・2.5 分）</a:t>
            </a:r>
          </a:p>
          <a:p>
            <a:endParaRPr/>
          </a:p>
          <a:p>
            <a:r>
              <a:t>那什麼時候該從 Excel 升級？八個訊號，我唸，你在心裡打勾。</a:t>
            </a:r>
          </a:p>
          <a:p>
            <a:r>
              <a:t>【逐項快唸，語氣輕鬆】</a:t>
            </a:r>
          </a:p>
          <a:p>
            <a:r>
              <a:t>一，版本失控——「客戶名單_final_v7_真的最終版.xlsx」，沒人確定哪份最新。二，交接黑洞——業務離職，紀錄跟著 LINE 和私人信箱一起離開。三，重複跟進——兩個業務同一週拜訪同一家客戶，彼此不知道。四，報表靠手工——每週業績會前有人花半天剪貼樞紐。五，承諾找不到——客戶說「上次你們答應過」，全公司翻不出來。六，預測靠感覺——「這季大概可以吧」。七，名單不同步——行銷、業務、客服三份客戶檔互相打架。八，跟丟商機——報價寄出去就石沉大海，沒人負責追。</a:t>
            </a:r>
          </a:p>
          <a:p>
            <a:r>
              <a:t>【舉手統計】</a:t>
            </a:r>
          </a:p>
          <a:p>
            <a:r>
              <a:t>來，心裡數好了——中三項以上的請舉手。……請放下，看看四周，這就是市場。</a:t>
            </a:r>
          </a:p>
          <a:p>
            <a:r>
              <a:t>★金句：Excel 沒有錯。錯的是拿「個人工具」，管「組織資產」。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S14｜生命週期四階段（◐快講・2 分）</a:t>
            </a:r>
          </a:p>
          <a:p>
            <a:endParaRPr/>
          </a:p>
          <a:p>
            <a:r>
              <a:t>客戶關係有生命週期，四個階段，各有各的管理重點：獲取——讓對的人找到你，靠行銷、名單、開發；發展——擴大往來深度，加購、升級、交叉銷售；留存——維持關係與滿意，服務、續約、關懷；流失挽回——找回沉睡客戶，喚醒與挽回方案。</a:t>
            </a:r>
          </a:p>
          <a:p>
            <a:r>
              <a:t>【發問，收兩個答案】</a:t>
            </a:r>
          </a:p>
          <a:p>
            <a:r>
              <a:t>問各位一題：如果行銷預算有限，你會押哪個階段？……好，多數人直覺押「獲取」。看下面兩個經典數字：第一，獲取一位新客戶的成本，大約是留住一位舊客戶的五倍——行銷領域長年引用的經驗值；第二，貝恩和哈佛的經典研究——客戶留存率每提升百分之五，獲利可以提升百分之二十五到九十五。</a:t>
            </a:r>
          </a:p>
          <a:p>
            <a:r>
              <a:t>結論寫在括號裡：留存的槓桿最大。而留存靠什麼？靠系統化的關係經營——不是靠記性。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S15｜各階段量化指標（○參考・1 分）</a:t>
            </a:r>
          </a:p>
          <a:p>
            <a:endParaRPr/>
          </a:p>
          <a:p>
            <a:r>
              <a:t>上一頁講了四個階段，這一頁給每個階段配上儀表，四列都值得看一眼。</a:t>
            </a:r>
          </a:p>
          <a:p>
            <a:r>
              <a:t>獲取階段，看獲客成本 CAC 和轉換率——CAC 的算法是行銷業務費用除以新客數；系統對應是潛在商機來源和漏斗分析。發展階段，看客單價和交叉銷售率——營收除以訂單數；對應商機金額與標籤分析。留存階段，看留存率和回購率——期末仍活躍的客戶數除以期初；對應活動紀錄與往來歷程。流失挽回，看流失率和挽回率——流失數除以客戶總數；對應「已損失」商機加損失原因統計。</a:t>
            </a:r>
          </a:p>
          <a:p>
            <a:r>
              <a:t>★金句：這張表的重點在最下面那句：沒有系統化紀錄，這張表每一格都只能用「猜」的——量測是管理的前提，紀錄是量測的前提。</a:t>
            </a:r>
          </a:p>
          <a:p>
            <a:r>
              <a:t>（趕時間的一句話版本：四個階段各有指標、今天的系統都量得出來——回去慢慢看。）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S16｜CLV 公式（★深講・3 分）</a:t>
            </a:r>
          </a:p>
          <a:p>
            <a:endParaRPr/>
          </a:p>
          <a:p>
            <a:r>
              <a:t>第一節的重頭戲：一位客戶，到底值多少錢？答案叫 CLV，客戶終身價值。</a:t>
            </a:r>
          </a:p>
          <a:p>
            <a:r>
              <a:t>看黑色框裡的簡化公式：平均客單價，乘、年購買次數，乘、平均維繫年數，乘、毛利率。</a:t>
            </a:r>
          </a:p>
          <a:p>
            <a:r>
              <a:t>【帶全班一起算，邊唸邊在白板寫】</a:t>
            </a:r>
          </a:p>
          <a:p>
            <a:r>
              <a:t>來，全班一起算嘉禾的企業客戶。每次採購約十二萬——大概一百五十組禮盒；一年買兩次，端午加年節；平均往來四年；毛利率四成五。十二萬、乘二、乘四、乘零點四五——多少？</a:t>
            </a:r>
          </a:p>
          <a:p>
            <a:r>
              <a:t>【等答案，白板寫 43.2 萬】</a:t>
            </a:r>
          </a:p>
          <a:p>
            <a:r>
              <a:t>四十三點二萬。請看這個對比：一張八百塊的禮盒訂單背後，站著一位價值四十三萬的客戶——你對他的服務規格，該用八百塊的標準，還是四十三萬的標準？</a:t>
            </a:r>
          </a:p>
          <a:p>
            <a:r>
              <a:t>右邊三個管理決策馬上用得到：第一，客戶分級——A、B、C 級的服務資源怎麼配；第二，獲客成本上限——經驗法則，CAC 要小於 CLV 除以三，四十三萬除以三約十四萬，這條線就是你獲取「一位」這種客戶可以花的上限；第三，該不該挽回——挽回成本對比剩餘生命週期價值，不是每位流失客戶都值得追。</a:t>
            </a:r>
          </a:p>
          <a:p>
            <a:r>
              <a:t>【白板寫：CAC &lt; CLV ÷ 3】</a:t>
            </a:r>
          </a:p>
          <a:p>
            <a:r>
              <a:t>最後一句：沒有 CRM 的交易紀錄，CLV 只能用猜的——系統，就是讓這條公式「算得出來」的前提。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S17｜CLV 進階（○參考・1.5 分）</a:t>
            </a:r>
          </a:p>
          <a:p>
            <a:endParaRPr/>
          </a:p>
          <a:p>
            <a:r>
              <a:t>上一頁是粗算版，這一頁講嚴謹版和三個誤區——想把 CLV 端上董事會的人請聽。</a:t>
            </a:r>
          </a:p>
          <a:p>
            <a:r>
              <a:t>嚴謹版要多考慮三件事：第一，折現——未來的現金流要按資金成本折現，年期愈長影響愈大，四年後的十二萬不等於今天的十二萬；第二，貢獻邊際——嚴謹算法用「毛利減服務成本」而不是營收，服務很重的客戶要扣掉服務他的錢；第三，留存曲線——客戶不是等速流失，前兩年最陡，別用直線外推。</a:t>
            </a:r>
          </a:p>
          <a:p>
            <a:r>
              <a:t>右邊三個常見誤區：一，用「平均值」掩蓋分布——常見情況是兩成客戶貢獻八成 CLV，所以「分級」比「平均」重要；二，把 CLV 當靜態數字——它應該隨每季新資料滾動更新；三，只算不用——CLV 的價值在「改變資源配置」，不在報告好看。</a:t>
            </a:r>
          </a:p>
          <a:p>
            <a:r>
              <a:t>★金句：EMBA 帶走的版本一句話：粗算版今天就能做，嚴謹版等系統累積一年交易資料後自然升級——先求有、再求準。</a:t>
            </a:r>
          </a:p>
          <a:p>
            <a:r>
              <a:t>（趕時間版：記住「別用平均掩蓋分布、分級比平均重要」這一條就夠。）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S18｜銷售漏斗與漏斗數學（★深講・3 分）</a:t>
            </a:r>
          </a:p>
          <a:p>
            <a:endParaRPr/>
          </a:p>
          <a:p>
            <a:r>
              <a:t>接著是把業績變成數學的一頁：銷售漏斗。</a:t>
            </a:r>
          </a:p>
          <a:p>
            <a:r>
              <a:t>【由上往下指漏斗各層】</a:t>
            </a:r>
          </a:p>
          <a:p>
            <a:r>
              <a:t>看圖：一百條潛在商機進來，資格判斷後剩四十筆合格商機，轉換率四成；進到提案剩二十，五成；議價十二，六成；最後成交八案，六成七。每一層右邊的轉換率，都是一個可以管理的槓桿——改善任何一層，出口就放大。</a:t>
            </a:r>
          </a:p>
          <a:p>
            <a:r>
              <a:t>【由下往上指回去】</a:t>
            </a:r>
          </a:p>
          <a:p>
            <a:r>
              <a:t>漏斗數學的威力在「回推」：老闆說下一季要成交八案——好，依這組轉換率往回推，入口就需要一百條潛在商機。「多開發」從此不是口號，是一個數字，而且可以拆給行銷和業務各自認領。</a:t>
            </a:r>
          </a:p>
          <a:p>
            <a:r>
              <a:t>★金句：再給一條覆蓋率法則，請記下來：任何時間點，漏斗內的總金額，要維持在業績目標的三到四倍。低於這條線，兩個月後的業績缺口，現在就已經注定了。</a:t>
            </a:r>
          </a:p>
          <a:p>
            <a:r>
              <a:t>CRM 的核心價值就是把這個漏斗「量化、可視、可管理」——接下來一整個下午，我們就在系統裡操作它。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S19｜轉換率診斷（○參考・1.5 分）</a:t>
            </a:r>
          </a:p>
          <a:p>
            <a:endParaRPr/>
          </a:p>
          <a:p>
            <a:r>
              <a:t>這張診斷表值得完整講一次，因為它示範了什麼叫「用漏斗看病」。三種病人，症狀一模一樣——都少三成業績——但病灶完全不同。</a:t>
            </a:r>
          </a:p>
          <a:p>
            <a:r>
              <a:t>第一種，入口太少：漏斗長相是第一層數量不足、後面轉換率都正常；病因在行銷和開發量不夠；處方是加大名單來源、行銷投放。第二種，中段大失血：提案到議價的轉換率遠低於同業；病因在提案品質或價格策略；處方是提案範本、報價權限、競品分析。第三種，尾段收不了：議價到成交卡住、週期拉長；病因在議價授權或臨門一腳的能力；處方是折扣授權表、主管陪訪機制。</a:t>
            </a:r>
          </a:p>
          <a:p>
            <a:r>
              <a:t>★金句：關鍵一句：「業績不好」不是診斷，是症狀——漏斗報表讓你看見「病在哪一層」，第五節你會親手做出這張診斷圖。</a:t>
            </a:r>
          </a:p>
          <a:p>
            <a:r>
              <a:t>（趕時間版：同樣少三成業績、三種不同的病、三種不同處方——這張表留著，第五節回來對照。）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S20｜CRM 三種型態（◐快講・1.5 分）</a:t>
            </a:r>
          </a:p>
          <a:p>
            <a:endParaRPr/>
          </a:p>
          <a:p>
            <a:r>
              <a:t>市面上的 CRM 有三種型態，買之前要先知道自己買哪一種。</a:t>
            </a:r>
          </a:p>
          <a:p>
            <a:r>
              <a:t>第一種，操作型——今天的主角：支撐每日銷售與服務流程，商機、活動、報價、工單。判斷它好不好只有一句話：「業務今天願不願意打開它？」第二種，分析型——把累積的資料變成洞察：分群、CLV、流失預警。注意一個因果：操作型是它的資料來源——沒有前者，就沒有後者。第三種，協作型——打通客戶接觸的各通路：電子郵件、LINE、客服、社群，讓每個部門看見同一個客戶。</a:t>
            </a:r>
          </a:p>
          <a:p>
            <a:r>
              <a:t>最下面那句是多數失敗案的病歷，請唸一次：拿「分析型的期待」，買了「操作型的系統」，卻沒建立「操作的紀律」——期待落空，不是軟體的錯。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S21｜市場地圖比較（◐快講・2 分）</a:t>
            </a:r>
          </a:p>
          <a:p>
            <a:endParaRPr/>
          </a:p>
          <a:p>
            <a:r>
              <a:t>看一眼市場地圖，四列逐一講。Salesforce：企業級市場領導者、生態最大，適合中大型企業；沒有免費方案、只有限期試用，入門大約每人每月二十五美金起。HubSpot：行銷導向、上手快，適合行銷驅動的團隊；有免費版但功能受限，付費約十五到二十美金起。Zoho CRM：高性價比套裝，適合小型團隊；三人以內有免費版，付費約十四美金起。</a:t>
            </a:r>
          </a:p>
          <a:p>
            <a:r>
              <a:t>【指最後一列】</a:t>
            </a:r>
          </a:p>
          <a:p>
            <a:r>
              <a:t>然後看 Odoo 這一列的免費欄位：「單一 App 永久免費、人數不限」——這就是本課選它的關鍵。全班每人開一套，成本是零。</a:t>
            </a:r>
          </a:p>
          <a:p>
            <a:r>
              <a:t>表下的小字請留意：各家價格是二〇二六年的約略牌價，實際以官網為準——比較的重點不是牌價，是「免費方案的結構」差異。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S22｜為何選 Odoo 教學（◐快講・1.5 分）</a:t>
            </a:r>
          </a:p>
          <a:p>
            <a:endParaRPr/>
          </a:p>
          <a:p>
            <a:r>
              <a:t>教學選 Odoo 的四個理由，逐格看。一，零成本零安裝——One App Free 加官方雲端主機，瀏覽器打開就能用，教室裡人手一套。二，介面完整繁體中文——官方語言檔持續維護，本教材用詞就是和它逐字對齊的，EMBA 不必先過英文關。三，麻雀雖小五臟俱全——商機漏斗、活動、電子郵件整合、預測評分、樞紐報表，教學所需的管理概念全部齊備。四，有真實的成長路徑——課後可以長成報價、庫存、會計的完整 ERP，學的不是玩具，是真實選項。</a:t>
            </a:r>
          </a:p>
          <a:p>
            <a:r>
              <a:t>★金句：但最下面這句要先講清楚：教學選型，不等於採購背書。課堂學的是「概念與方法」，回公司選系統，請用第五節會給各位的評估框架依需求評估。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S23｜開源商業模式（○參考・1.5 分）</a:t>
            </a:r>
          </a:p>
          <a:p>
            <a:endParaRPr/>
          </a:p>
          <a:p>
            <a:r>
              <a:t>很多人心裡的問題：人家為什麼願意免費？這一頁把商業模式拆開講。</a:t>
            </a:r>
          </a:p>
          <a:p>
            <a:r>
              <a:t>左邊，Odoo 的雙軌結構三條：Community 社群版——核心程式碼開源、可以自己架、永久免費；Enterprise 企業版——進階功能加官方雲端加支援，訂閱收費；而 One App Free，就是企業版的「入門漏斗」——先讓你免費用一個 App 養成習慣。</a:t>
            </a:r>
          </a:p>
          <a:p>
            <a:r>
              <a:t>右邊是對使用者的策略意義：第一，免費不是陷阱，是廠商的獲客投資——理解對方動機，用得更安心；第二，「裝第二個 App 才收費」的設計，等於把付費決定權完全交給你的價值感受；第三，EMBA 觀點——這正是 Freemium、Land-and-Expand 商業模式的教科書案例：先落地、再擴張。</a:t>
            </a:r>
          </a:p>
          <a:p>
            <a:r>
              <a:t>★金句：看懂對方的商業模式，是所有採購談判的第一步——這一頁本身，就是一堂商業模式課。</a:t>
            </a:r>
          </a:p>
          <a:p>
            <a:r>
              <a:t>（趕時間版：社群版開源、企業版收費、免費方案是獲客漏斗——免費的原因想通了，就敢放心用。）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S24｜部署三選一（◐快講・1.5 分）</a:t>
            </a:r>
          </a:p>
          <a:p>
            <a:endParaRPr/>
          </a:p>
          <a:p>
            <a:r>
              <a:t>部署有三條路，表上三列連成本結構一起看。第一列，Odoo Online，SaaS——主機在官方雲端代管；成本結構是免費起步、付費後按人月計；適合快速上線、沒有 IT 人力的公司——本課採用，右欄打勾的就是它。第二列，Odoo.sh，PaaS——官方雲端加可客製；平台費加訂閱；適合需要客製開發的成長企業。第三列，自架 On-premise——主機在自己的機房或 VM；軟體免費但維運自負；適合資料主權要求高、有 IT 團隊的公司。</a:t>
            </a:r>
          </a:p>
          <a:p>
            <a:r>
              <a:t>決策軸只有兩條：資料主權要求，乘上 IT 能量。課堂選 Online 是為了「零門檻」；你公司的答案可能不同——高敏感產業可能走自架，這張表留著回去對。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S25｜One App Free 解析（★深講・3 分）</a:t>
            </a:r>
          </a:p>
          <a:p>
            <a:endParaRPr/>
          </a:p>
          <a:p>
            <a:r>
              <a:t>這一頁請大家聽仔細，它回答今天最多人心裡的那個問題：免費，到底怎麼免費？會不會用一用突然被收錢？</a:t>
            </a:r>
          </a:p>
          <a:p>
            <a:r>
              <a:t>先看左邊，免費方案給你什麼，四條：單一 App 永久免費——本課只裝 CRM；使用者人數不限——全公司都能用；含官方雲端主機、每日備份、版本更新；介面繁體中文、支援行動裝置。</a:t>
            </a:r>
          </a:p>
          <a:p>
            <a:r>
              <a:t>【放慢，逐條唸右欄】</a:t>
            </a:r>
          </a:p>
          <a:p>
            <a:r>
              <a:t>右邊是遊戲規則，四條，一條一條講。第一條：註冊的當下，你會得到十五天的「全功能試用」——請注意，這是體驗緩衝，讓你順便試玩其他模組，它「不是」免費倒數。第二條：十五天到期，只要你的資料庫維持單一 App，系統自動回到永久免費，資料一筆都不動。第三條：真正觸發收費的動作只有一個——你自己去安裝「第二個 App」；裝下去的那一刻起，全資料庫改成按使用者人數付費。第四條：所以主導權完全在你——不裝第二個 App，就永遠不會被收費。</a:t>
            </a:r>
          </a:p>
          <a:p>
            <a:r>
              <a:t>★金句：一句話版本，請跟我唸一次：只裝 CRM，等於永遠免費。</a:t>
            </a:r>
          </a:p>
          <a:p>
            <a:r>
              <a:t>今天課堂上所有的操作，都在這條安全線之內。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S26｜免費方案邊界（◐快講・1.5 分）</a:t>
            </a:r>
          </a:p>
          <a:p>
            <a:endParaRPr/>
          </a:p>
          <a:p>
            <a:r>
              <a:t>免費當然有邊界，四條先知道，才不會期待落空。第一，只有一個 App——聯絡人、討論這些「內建工具」不佔額度；但報價單屬於銷售 App、開發票屬於會計，要付費才有。第二，每日外寄郵件有上限——課堂測試綽綽有餘，大量行銷寄送屬於另外的付費服務。第三，不含進階客製工具——免費方案沒有 Studio 那種拖拉改欄位的工具；但階段、標籤、損失原因、活動類型這種「設定級」客製全部可以做，今天全會做到。第四，支援以文件與社群為主——免費用戶沒有專屬客服，但官方文件、教學影片和社群資源相當完整。</a:t>
            </a:r>
          </a:p>
          <a:p>
            <a:r>
              <a:t>結論一句：拿來「養習慣、驗證流程、教學」——綽綽有餘。這正是本課、也是貴公司試點期的定位。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S27｜導入前自我評估八問（○參考・2 分）</a:t>
            </a:r>
          </a:p>
          <a:p>
            <a:endParaRPr/>
          </a:p>
          <a:p>
            <a:r>
              <a:t>這一頁是帶回家的鏡子，八個問題我完整唸一遍，各位在心裡替自己的公司作答。</a:t>
            </a:r>
          </a:p>
          <a:p>
            <a:r>
              <a:t>一，資料在哪？客戶名單與往來紀錄，現在存在誰的什麼工具裡。二，誰會離職？哪位同仁離開，會帶走最多「組織記憶」。三，流程清楚嗎？從接觸到成交的階段，全公司說得出口徑一致的版本嗎。四，老闆會用嗎？高階主管願不願意「只看系統數字」開會。五，誰負責輸入？第一線輸入資料，對他自己有什麼好處。六，KPI 連動嗎？獎金與考核，會不會改成看系統數字。七，誰當管理員？內部有沒有人願意當系統的管理者。八，多久見效？你能接受九十天養成期，還是期待一鍵見效。</a:t>
            </a:r>
          </a:p>
          <a:p>
            <a:r>
              <a:t>★金句：評分標準一句話：答不出三題以上——先補流程，再談系統。第五節的導入策略，會回來一題一題接。</a:t>
            </a:r>
          </a:p>
          <a:p>
            <a:r>
              <a:t>（趕時間版：八問就是導入體檢表，回去和主管團隊各自作答再對答案，分歧處就是風險。）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S28｜實作準備 Checklist（★深講・2 分）</a:t>
            </a:r>
          </a:p>
          <a:p>
            <a:endParaRPr/>
          </a:p>
          <a:p>
            <a:r>
              <a:t>好，理論暫停，動手時間。開始前，四樣東西逐項確認。</a:t>
            </a:r>
          </a:p>
          <a:p>
            <a:r>
              <a:t>第一，一組「能立刻收信」的 Email——強烈建議個人 Gmail，部分企業信箱會把驗證信擋下來，等一下會吃大虧。第二，想好一組密碼——課堂註冊專用，請不要沿用公司的重要密碼。第三，瀏覽器就緒——Chrome 或 Edge 最新版，把會擋彈窗的外掛先關掉。第四，命名規則。</a:t>
            </a:r>
          </a:p>
          <a:p>
            <a:r>
              <a:t>【白板寫：嘉禾茶業-學號】</a:t>
            </a:r>
          </a:p>
          <a:p>
            <a:r>
              <a:t>全班統一，資料庫命名「嘉禾茶業-你的學號」——你的網址就會變成「嘉禾茶業-學號.odoo.com」。</a:t>
            </a:r>
          </a:p>
          <a:p>
            <a:r>
              <a:t>口訣四個詞：信箱、密碼、瀏覽器、命名。四樣就緒？出發。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S29｜實作 1-1 註冊（★深講・8 分）</a:t>
            </a:r>
          </a:p>
          <a:p>
            <a:endParaRPr/>
          </a:p>
          <a:p>
            <a:r>
              <a:t>【切到實機示範；左半教室先開始，右半慢 30 秒，避免同時塞爆】</a:t>
            </a:r>
          </a:p>
          <a:p>
            <a:r>
              <a:t>現在跟著我，五步。第一步，進入官網：瀏覽器打 odoo.com，點「Try it now／免費試用」。</a:t>
            </a:r>
          </a:p>
          <a:p>
            <a:r>
              <a:t>第二步——今天最重要的一個動作，請聽好：App 清單裡，「只勾選 CRM」，一個，就一個。這是維持永久免費的關鍵，多勾一個，十五天後就要面對付費選擇。</a:t>
            </a:r>
          </a:p>
          <a:p>
            <a:r>
              <a:t>第三步，填基本資料：姓名、Email——就是那組能立刻收信的、密碼；公司名稱請填「嘉禾茶業」。</a:t>
            </a:r>
          </a:p>
          <a:p>
            <a:r>
              <a:t>第四步，命名資料庫：「嘉禾茶業-你的學號」，送出。</a:t>
            </a:r>
          </a:p>
          <a:p>
            <a:r>
              <a:t>第五步，收信驗證：到信箱點驗證連結。</a:t>
            </a:r>
          </a:p>
          <a:p>
            <a:r>
              <a:t>★金句：驗收標準只有一條：看到「看板」畫面，才算完成。</a:t>
            </a:r>
          </a:p>
          <a:p>
            <a:r>
              <a:t>完成的請舉手，順手看一下鄰座進度——快的同學，你現在就是小助教。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S30｜實作 1-1b 卡關排除（◐快講・視現場）</a:t>
            </a:r>
          </a:p>
          <a:p>
            <a:endParaRPr/>
          </a:p>
          <a:p>
            <a:r>
              <a:t>【此頁投影著當背景，講師巡場處理個案】</a:t>
            </a:r>
          </a:p>
          <a:p>
            <a:r>
              <a:t>卡住的同學看這張表，三種症狀、三種處理。</a:t>
            </a:r>
          </a:p>
          <a:p>
            <a:r>
              <a:t>症狀一，收不到驗證信——原因通常是郵件延遲、被歸到垃圾郵件、或企業信箱攔截；現場處理：查垃圾郵件夾、等兩三分鐘，仍然沒有——不要戀戰，直接換 Gmail 重新註冊，整個流程三分鐘。症狀二，資料庫名稱不能用——代表名稱已被別人註冊；處理：改「嘉禾茶業-學號」或名稱後面加任意數字。症狀三，頁面卡住不動——教室頻寬瞬間壅塞；處理：重新整理一次，還卡就舉手，先看鄰座畫面跟上進度。</a:t>
            </a:r>
          </a:p>
          <a:p>
            <a:r>
              <a:t>★金句：原則一句話：單點卡關超過三分鐘就換路走——換信箱、換名稱——不要糾纏，課後手冊有完整步驟可以補做。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S31｜實作 1-2 繁中化（★深講・2 分）</a:t>
            </a:r>
          </a:p>
          <a:p>
            <a:endParaRPr/>
          </a:p>
          <a:p>
            <a:r>
              <a:t>進來了？現在把它變成中文，四步。第一步，開啟偏好設定：點右上角你的個人頭像、「我的個人資料」、「偏好設定」。第二步，選語言與時區：Language 選「繁體中文」；Timezone 選「Asia/Taipei」；儲存。第三步——很多人漏掉——重新整理頁面，確認整個介面已經中文化。</a:t>
            </a:r>
          </a:p>
          <a:p>
            <a:r>
              <a:t>第四步是備用路徑：如果你的語言清單裡找不到繁體中文，到設定 Settings、「翻譯」、「新增語言」，把繁中載入之後，再回偏好設定選取。完成的舉手。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S32｜實作 1-3 介面導覽（★深講・3 分）</a:t>
            </a:r>
          </a:p>
          <a:p>
            <a:endParaRPr/>
          </a:p>
          <a:p>
            <a:r>
              <a:t>【游標同步指位，六站各點一遍，學員跟著點】</a:t>
            </a:r>
          </a:p>
          <a:p>
            <a:r>
              <a:t>花三分鐘認路，這間房子有六個地方要記得。第一站，左上角的九宮格——主選單，所有 App 的入口，今天你只會看到 CRM 和幾個內建工具。第二站，畫面上方的搜尋列——篩選、分組依據、最愛都藏在這裡，第五節它是主戰場。第三站，「新增」按鈕——任何畫面要建資料都靠它，等一下建商機就用它。第四站，右上角的視圖切換——看板、清單、樞紐分析表、圖形，同一份資料隨時換視角。第五站，活動鈴鐺——你的待辦活動都會在這裡提醒，第三節的主角。第六站，「討論」Discuss——站內即時訊息，和商機的訊息紀錄相通。</a:t>
            </a:r>
          </a:p>
          <a:p>
            <a:r>
              <a:t>六站都點過一遍的舉手——點完，你就認得這間房子了。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S33｜搜尋列三兄弟（◐快講・1.5 分）</a:t>
            </a:r>
          </a:p>
          <a:p>
            <a:endParaRPr/>
          </a:p>
          <a:p>
            <a:r>
              <a:t>搜尋列裡住著三兄弟，先打個照面、記英文名。老大「篩選」Filters：把不要的資料藏起來——例如只看「我的」商機、只看「已損失」。老二「分組依據」Group By：把資料切堆看——依階段、依銷售人員、依月份分組。老三「最愛」Favorites：把調好的檢視存起來——可以設「預設篩選器」、可以「分享」給全團隊。</a:t>
            </a:r>
          </a:p>
          <a:p>
            <a:r>
              <a:t>【30 秒小練習】</a:t>
            </a:r>
          </a:p>
          <a:p>
            <a:r>
              <a:t>三十秒小練習：點開「篩選」，隨便勾一項，看資料被藏起來；再取消，看它回來。……好。現在只要記得三兄弟住在搜尋列裡；第五節的報表實作，全靠他們出手。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S34｜檢核點①＋討論（★深講・3 分）</a:t>
            </a:r>
          </a:p>
          <a:p>
            <a:endParaRPr/>
          </a:p>
          <a:p>
            <a:r>
              <a:t>第一節驗收，三項，都做到的請舉手。第一，能登入「你的名稱.odoo.com」自己的資料庫。第二，介面已切換為繁體中文、時區台北。第三，看板顯示四個預設階段——「新潛在客戶、已評估、提案、成交」。</a:t>
            </a:r>
          </a:p>
          <a:p>
            <a:r>
              <a:t>【目視巡場確認，處理未完成者】</a:t>
            </a:r>
          </a:p>
          <a:p>
            <a:r>
              <a:t>很好。接下來三分鐘 EMBA 時間，右邊這題：你的公司，現在用什麼管理客戶？Excel、LINE 群組、名片盒，還是資深業務的腦袋？請想一個具體情境——上一位離職的業務，帶走了什麼？</a:t>
            </a:r>
          </a:p>
          <a:p>
            <a:r>
              <a:t>【點 2 位分享，各 45 秒，只覆述關鍵詞】</a:t>
            </a:r>
          </a:p>
          <a:p>
            <a:r>
              <a:t>……謝謝兩位。</a:t>
            </a:r>
          </a:p>
          <a:p>
            <a:r>
              <a:t>★金句：收斂一句話：「組織記憶」到底存在哪裡——這個問題，是本課反覆回來的管理主題，會一路跟著我們到下課。不休息，直接進第二節。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S35｜第二節開場（分節頁）（★深講・30 秒）</a:t>
            </a:r>
          </a:p>
          <a:p>
            <a:endParaRPr/>
          </a:p>
          <a:p>
            <a:r>
              <a:t>第二節，五十五分鐘，任務一句話：把嘉禾茶業的銷售流程，變成一條「看得見、拖得動」的商機漏斗。</a:t>
            </a:r>
          </a:p>
          <a:p>
            <a:r>
              <a:t>節奏是這樣：前二十分鐘講五件事——潛在商機和商機怎麼分、BANT 資格判斷、階段怎麼設計、看板這套方法哪裡來、還有 WIP 限制；後面三十五分鐘全部動手。下課前，你的看板上會有六筆商機、一百六十萬。走。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S36｜潛在商機 vs 商機（★深講・2 分）</a:t>
            </a:r>
          </a:p>
          <a:p>
            <a:endParaRPr/>
          </a:p>
          <a:p>
            <a:r>
              <a:t>先把兩個詞分清楚，這是本節所有觀念的地基。</a:t>
            </a:r>
          </a:p>
          <a:p>
            <a:r>
              <a:t>左邊，「潛在商機」——英文叫 Lead：一張名片、一筆官網表單、一通詢價電話——還沒驗證的名單。特性是量大、雜訊多、成交率低；管理重點是快速回應、快速分流——合格的轉成商機，不合格的培養或放掉。</a:t>
            </a:r>
          </a:p>
          <a:p>
            <a:r>
              <a:t>右邊，「商機」——Opportunity：通過資格判斷、值得投入業務時間的案子。特性是量少、資訊完整、有金額有時程；管理重點是階段推進、下一步活動、成交損失覆盤。</a:t>
            </a:r>
          </a:p>
          <a:p>
            <a:r>
              <a:t>★金句：一句話：一張名片，不等於一個案子。把兩者混在一起，業務的時間就會被爛名單吃光。</a:t>
            </a:r>
          </a:p>
          <a:p>
            <a:r>
              <a:t>本課為了聚焦，直接在「商機」這一層操作；等你公司名單量大了，可以在配置裡開啟潛在商機的分流機制，邏輯完全一樣。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S37｜來源與分流（◐快講・1.5 分）</a:t>
            </a:r>
          </a:p>
          <a:p>
            <a:endParaRPr/>
          </a:p>
          <a:p>
            <a:r>
              <a:t>名單從哪裡來？看表，五條水管，每條的水量水質和分流責任都不同。第一條，官網／表單——嘉禾的例子是禮盒型錄下載、詢價表單；水量中、水質中；分流責任：內勤二十四小時內初篩。第二條，展會／活動——食品展、企業採購媒合會；短期水量高、但水質低到中；規則是展後四十八小時內分流——名片放到冷掉就沒價值了。第三條，轉介紹——老客戶引薦，例如玉山介紹其他銀行；量低、質高；業務直接建商機。第四條，主動開發——鎖定名單陌生開發；水量可控、品質取決於名單；業務自建、週會檢視。第五條，進線詢價——量少但質最高；當日回應、當日判斷。</a:t>
            </a:r>
          </a:p>
          <a:p>
            <a:r>
              <a:t>落點一句：每一條來源，都要有「負責人加回應時限」；而且來源欄位要記實——第五節你才能分析，哪條水管最值錢。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S38｜BANT 四問（★深講・2 分）</a:t>
            </a:r>
          </a:p>
          <a:p>
            <a:endParaRPr/>
          </a:p>
          <a:p>
            <a:r>
              <a:t>資格判斷最經典的框架，BANT，四個問題，每一問都配嘉禾的問法。</a:t>
            </a:r>
          </a:p>
          <a:p>
            <a:r>
              <a:t>B，預算 Budget——「這次採購的預算範圍大概是？」嘉禾情境：對方年節禮盒預算三十到五十萬。A，決策權 Authority——「這案子最後由誰拍板？」是承辦、採購主管，還是福委會投票？問錯人，簡報做給沒有權的人看。N，需求 Need——「為什麼是現在？想解決什麼？」送禮體面？預算消化？還是要換長期供應商？答案決定你的提案角度。T，時程 Timeline——「什麼時候要交貨？」年節檔期回推，十二月中前必須簽約，這就是死線。</a:t>
            </a:r>
          </a:p>
          <a:p>
            <a:r>
              <a:t>★金句：四問過了才進漏斗，缺一項就補問。資格判斷，是業務時間的第一道守門員。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S39｜MEDDIC 與 CHAMP（◐快講・1.5 分）</a:t>
            </a:r>
          </a:p>
          <a:p>
            <a:endParaRPr/>
          </a:p>
          <a:p>
            <a:r>
              <a:t>BANT 之外還有兩個親戚，認識一下就好。左邊 MEDDIC，給複雜大單用的，六個字母問得更深：Metrics 量化效益——導入你的方案能省多少、賺多少；Economic buyer 真正出錢的人；Decision criteria 和 process——決策標準與流程；Identify pain 痛點；還有 Champion——內部擁護者，就是在客戶端替你講話的那個人。適用金額大、決策鏈長的案子——像台積電五十二萬這種。</a:t>
            </a:r>
          </a:p>
          <a:p>
            <a:r>
              <a:t>右邊 CHAMP，給快節奏小單：CHallenges 挑戰優先——先聊痛點再談預算，然後 Authority、Money、Prioritization 接續確認。精神就一句：把「需求」放在「預算」前面問，談話更自然。適用中小額、決策快的案子——像誠品九萬的聯名案。</a:t>
            </a:r>
          </a:p>
          <a:p>
            <a:r>
              <a:t>框架不必背誦，記住精神：案子多大，資格判斷就問多深——別用大砲問小鳥，也別用彈弓打大象。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S40｜資格判斷演練（★深講・3 分）</a:t>
            </a:r>
          </a:p>
          <a:p>
            <a:endParaRPr/>
          </a:p>
          <a:p>
            <a:r>
              <a:t>【三個情境逐一唸，全班舉手表決後再揭參考解】</a:t>
            </a:r>
          </a:p>
          <a:p>
            <a:r>
              <a:t>來實戰。三通電話，你判斷建不建商機。</a:t>
            </a:r>
          </a:p>
          <a:p>
            <a:r>
              <a:t>情境 A：某科技公司行政來電——「老闆說今年要換禮盒，預算四十萬，十二月要，下週想試喝。」建商機的舉手？……對，建。BANT 四項全齊，教科書案例。</a:t>
            </a:r>
          </a:p>
          <a:p>
            <a:r>
              <a:t>情境 B：展會換到一張名片，對方說「有機會再聊聊」。沒預算、沒時程。建嗎？……不建。留在潛在商機培養，別讓它佔用漏斗——漏斗裡放假案子，報表就開始說謊。</a:t>
            </a:r>
          </a:p>
          <a:p>
            <a:r>
              <a:t>情境 C：朋友介紹——「他們福委會在比價，這週五決標，預算十五萬。」……建，而且立刻標高「優先等級」——五天內決標，今天就要動。</a:t>
            </a:r>
          </a:p>
          <a:p>
            <a:r>
              <a:t>★金句：判斷準則一句話：有「預算」或「時程」其中之一，就值得建檔追蹤；兩者皆無，先培養、別佔用漏斗。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S41｜階段設計三原則（★深講・2.5 分）</a:t>
            </a:r>
          </a:p>
          <a:p>
            <a:endParaRPr/>
          </a:p>
          <a:p>
            <a:r>
              <a:t>接下來這一頁，是整個第二節最重要的一頁。階段怎麼設計？三個原則。</a:t>
            </a:r>
          </a:p>
          <a:p>
            <a:r>
              <a:t>原則一，以客戶的承諾為界。聽清楚這組對比：「已寄報價」——這是你的動作，寄了不代表案子有任何進展；「客戶同意評估」——這才是他的承諾，後者才算推進一階。</a:t>
            </a:r>
          </a:p>
          <a:p>
            <a:r>
              <a:t>原則二，每一階可驗證：任何人看到卡片的位置，都能說出「客戶做了什麼」。曖昧的階段，一定會被灌水。</a:t>
            </a:r>
          </a:p>
          <a:p>
            <a:r>
              <a:t>原則三，五到七階為宜：太少看不出瓶頸，太多推不動，還會養出殭屍階段——嘉禾今天用六階。</a:t>
            </a:r>
          </a:p>
          <a:p>
            <a:r>
              <a:t>★金句：金句來了，值得抄下來：階段名稱寫的是「客戶的狀態」，不是「我做過的事」。</a:t>
            </a:r>
          </a:p>
          <a:p>
            <a:r>
              <a:t>【停一拍，再唸一次】</a:t>
            </a:r>
          </a:p>
          <a:p>
            <a:r>
              <a:t>再說一次——階段，是客戶的承諾，不是你的動作。這句話，思考題二和回家作業都會用到。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S42｜階段設計三種病（★深講・2 分）</a:t>
            </a:r>
          </a:p>
          <a:p>
            <a:endParaRPr/>
          </a:p>
          <a:p>
            <a:r>
              <a:t>三種常見病，症狀、危害、處方一次講齊，請各位對號入座自家的漏斗。</a:t>
            </a:r>
          </a:p>
          <a:p>
            <a:r>
              <a:t>第一種，階段肥大症：症狀是十二個以上的階段、卡片懶得拖；為什麼有害——推進成本太高，沒人更新，報表跟著失真。處方：合併到五到七階，其餘資訊改用標籤承載。</a:t>
            </a:r>
          </a:p>
          <a:p>
            <a:r>
              <a:t>第二種，動作型階段：症狀是「已寄型錄」、「已打第二通電話」；危害——記的全是自己的行為，看不出離成交多遠。處方：改寫成客戶承諾，例如「同意試喝」。</a:t>
            </a:r>
          </a:p>
          <a:p>
            <a:r>
              <a:t>第三種，殭屍階段：症狀是某一欄永遠零筆，或者永遠不動；危害——掩蓋真實流程、稀釋注意力。處方：每季檢視一次，砍掉或合併。</a:t>
            </a:r>
          </a:p>
          <a:p>
            <a:r>
              <a:t>★金句：季檢的口訣：看兩個數字——「各階段停留天數」和「各階段筆數」，殭屍和瓶頸都會現形。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S43｜看板小史（◐快講・1.5 分）</a:t>
            </a:r>
          </a:p>
          <a:p>
            <a:endParaRPr/>
          </a:p>
          <a:p>
            <a:r>
              <a:t>等一下要用的「看板」，值得知道它的出身，三站六十年。第一站，一九五〇年代，豐田生產系統——Kanban 原本是產線上的補貨訊號卡，目的就一個：讓「流動」和「瓶頸」被看見。第二站，二〇〇〇年代，軟體業把它借走：知識工作把任務變卡片、流程變欄位——視覺化工作流成為主流方法。第三站，今天，輪到銷售：商機是卡片、階段是欄位——你的漏斗第一次「看得見、拖得動」。</a:t>
            </a:r>
          </a:p>
          <a:p>
            <a:r>
              <a:t>看板的兩個核心價值請記住：一，視覺化——問題藏不住，哪欄爆量、哪張卡發紅，一眼看見；二，暴露瓶頸——流動停滯的地方，就是管理該介入的地方。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S44｜WIP 限制（○參考・1.5 分）</a:t>
            </a:r>
          </a:p>
          <a:p>
            <a:endParaRPr/>
          </a:p>
          <a:p>
            <a:r>
              <a:t>延伸一個概念，WIP，在製品限制——業務同時追幾個案子才健康？</a:t>
            </a:r>
          </a:p>
          <a:p>
            <a:r>
              <a:t>左邊先講邏輯三條：一，同時進行的案子太多，每案分到的注意力太少，結果是全部一起變慢；二，這是產線經驗的移植——限制每一欄、每一個人「同時在辦」的數量；三，實務參考值：一位 B2B 業務同時深耕八到十五個活躍商機，依單價調整——單價高就少一點、單價低可以多一點。</a:t>
            </a:r>
          </a:p>
          <a:p>
            <a:r>
              <a:t>右邊是主管怎麼用，三條：週會第一眼先看——誰的卡片超載、誰的欄位堵住；第二，堵在「提案」欄——要分辨是提案產能問題，還是客戶決策拖延，處方不同；第三，與其催「多開發」，不如先清「卡住的」——流速，比水量重要。</a:t>
            </a:r>
          </a:p>
          <a:p>
            <a:r>
              <a:t>★金句：看板管理的精髓不是「看」，是「限」與「疏」——限制在製、疏通瓶頸。</a:t>
            </a:r>
          </a:p>
          <a:p>
            <a:r>
              <a:t>（趕時間版：一人同時八到十五案、超載先清卡住的——記這條就好。）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S45｜實作 2-1 認識預設漏斗（★深講・5 分）</a:t>
            </a:r>
          </a:p>
          <a:p>
            <a:endParaRPr/>
          </a:p>
          <a:p>
            <a:r>
              <a:t>【切實機，先只看不改】</a:t>
            </a:r>
          </a:p>
          <a:p>
            <a:r>
              <a:t>動手。進入 CRM，你會落在「我的商機」的看板畫面——路徑是 CRM、銷售、我的商機。先認識，不要改，四件事。</a:t>
            </a:r>
          </a:p>
          <a:p>
            <a:r>
              <a:t>第一，四個預設階段，由左到右：「新潛在客戶、已評估、提案、成交」——跟你螢幕上一模一樣。第二，三個元件：直欄是階段；卡片是商機；卡片右下角的彩色小點，是「下一步活動」的狀態——第三節詳講。第三，編輯入口：滑鼠移到欄位名稱上，出現一個齒輪圖示——編輯名稱、摺疊欄位、刪除階段都在裡面。第四，先只看不改——下一頁，我們有計畫地動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S46｜實作 2-2 打造六階段（★深講・5 分）</a:t>
            </a:r>
          </a:p>
          <a:p>
            <a:endParaRPr/>
          </a:p>
          <a:p>
            <a:r>
              <a:t>開始改造成嘉禾的漏斗。先講策略：四個預設階段的「名稱不動」——因為它們和系統的預測評分相容性最好，而且本身就符合客戶承諾原則。我們只做兩件事：插入兩個新階段、排順序。</a:t>
            </a:r>
          </a:p>
          <a:p>
            <a:r>
              <a:t>【示範一步等一步】</a:t>
            </a:r>
          </a:p>
          <a:p>
            <a:r>
              <a:t>第一步：在「已評估」右側點加號，新增階段，命名——「樣品試喝」。第二步：在「提案」右側再點加號，新增——「議價中」。第三步：抓著欄位標題拖曳排序，最終順序：「新潛在客戶、已評估、樣品試喝、提案、議價中、成交」。</a:t>
            </a:r>
          </a:p>
          <a:p>
            <a:r>
              <a:t>【巡場，抓順序拖錯者】</a:t>
            </a:r>
          </a:p>
          <a:p>
            <a:r>
              <a:t>說明兩句：「樣品試喝」是茶業的語言——回你的公司，請換成你產業裡「客戶的承諾」，例如「同意 POC」、「完成試乘」。另外，今天全班統一用這六階，第五節的報表才能對答案。六階都排好的舉手。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S47｜實作 2-2b 階段屬性（◐快講・2 分）</a:t>
            </a:r>
          </a:p>
          <a:p>
            <a:endParaRPr/>
          </a:p>
          <a:p>
            <a:r>
              <a:t>兩個進階屬性，快看。第一，摺疊欄位：欄名齒輪、編輯，勾「已在管道中摺疊」——適合放結案類的階段，讓畫面聚焦進行中的案件；今天先不勾，知道有這功能就好。第二，階段與「成功率」：每筆商機都有這個欄位，會隨階段和歷史資料變動——背後的預測機制第四節詳講。</a:t>
            </a:r>
          </a:p>
          <a:p>
            <a:r>
              <a:t>現在先做一個課堂約定，等一下計算加權漏斗值要用：全班統一假設——「提案」階段的成功率，是百分之五十。</a:t>
            </a:r>
          </a:p>
          <a:p>
            <a:r>
              <a:t>★金句：順帶一句管理提醒：成功率是「預測的燃料」。亂填一次，污染的是整個團隊未來的預測準度。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S48｜實作 2-3 第一筆商機（★深講・4 分）</a:t>
            </a:r>
          </a:p>
          <a:p>
            <a:endParaRPr/>
          </a:p>
          <a:p>
            <a:r>
              <a:t>【逐欄示範，學員跟做】</a:t>
            </a:r>
          </a:p>
          <a:p>
            <a:r>
              <a:t>建立你職業生涯在這套系統裡的第一筆商機，四步。第一步，新增：在「新潛在客戶」欄按加號——或用左上角「新增」按鈕，一樣。</a:t>
            </a:r>
          </a:p>
          <a:p>
            <a:r>
              <a:t>第二步，填名稱與客戶：商機名稱，「台塑企業年節禮盒」；客戶，打「台塑企業」——系統找不到，會讓你現場直接建立，按下去。</a:t>
            </a:r>
          </a:p>
          <a:p>
            <a:r>
              <a:t>第三步，填兩個關鍵數字：「預期收入」，四十萬，照打 400000；「預期結束」，選十二月十五日——年節檔期回推的簽約死線。</a:t>
            </a:r>
          </a:p>
          <a:p>
            <a:r>
              <a:t>第四步，按「儲存」。</a:t>
            </a:r>
          </a:p>
          <a:p>
            <a:r>
              <a:t>【確認全班進度】</a:t>
            </a:r>
          </a:p>
          <a:p>
            <a:r>
              <a:t>看看你的看板——第一筆商機上板了。恭喜。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S49｜欄位地圖（★深講・2.5 分）</a:t>
            </a:r>
          </a:p>
          <a:p>
            <a:endParaRPr/>
          </a:p>
          <a:p>
            <a:r>
              <a:t>表單上每一格都連著一個管理意義，六個重點欄位過一遍。</a:t>
            </a:r>
          </a:p>
          <a:p>
            <a:r>
              <a:t>一，「預期收入」：不填，第五節報表全瞎；估不準沒關係——先有、再修。二，「預期結束」：預測 Forecast 視圖的地基，按月排程全靠它。三，「成功率」：加權漏斗值的來源，系統會自動估、可以手動覆寫。四，「標籤」：日後交叉分析的維度——通路、產品線、案型都可以標。五，「銷售人員」：責任歸屬加個人儀表板，也是分組報表的主要維度。六，「客戶」：串起聯絡人、歷史往來，還有第四節會看到的「類似潛在客戶」重複偵測。</a:t>
            </a:r>
          </a:p>
          <a:p>
            <a:r>
              <a:t>★金句：表單口訣一句：兩個數字——收入、結束日；兩個歸屬——人、客戶；一組標籤。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S50｜實作 2-4 標籤與團隊（◐快講・3 分）</a:t>
            </a:r>
          </a:p>
          <a:p>
            <a:endParaRPr/>
          </a:p>
          <a:p>
            <a:r>
              <a:t>【示範幫台塑上標籤】</a:t>
            </a:r>
          </a:p>
          <a:p>
            <a:r>
              <a:t>幫台塑案種兩棵樹，日後乘涼。第一步：打開商機表單，「標籤」欄輸入「年節檔」——現場建立；再加一個「企業採購」。</a:t>
            </a:r>
          </a:p>
          <a:p>
            <a:r>
              <a:t>第二步是標籤的命名紀律，比功能重要：全公司要統一詞彙——「配置」選單裡的「標籤」可以集中管理、指定專人維護。「年節」、「過年」、「春節」三種寫法，就是三個報表災難。</a:t>
            </a:r>
          </a:p>
          <a:p>
            <a:r>
              <a:t>第三步認識「銷售團隊」：商機都掛在銷售團隊底下——多團隊的公司，北區、南區、通路，各自有漏斗和目標；課堂單一團隊就好。</a:t>
            </a:r>
          </a:p>
          <a:p>
            <a:r>
              <a:t>一句話區分這兩個維度：標籤回答「這是哪一種生意」，團隊回答「這是誰的戰場」——兩者都是第五節分組分析的維度。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S51｜實作 2-5 看板三動作（★深講・3 分）</a:t>
            </a:r>
          </a:p>
          <a:p>
            <a:endParaRPr/>
          </a:p>
          <a:p>
            <a:r>
              <a:t>看板的三個基本動作，跟著做。</a:t>
            </a:r>
          </a:p>
          <a:p>
            <a:r>
              <a:t>動作一，拖拉推進：抓著台塑的卡片，從「新潛在客戶」拖到「已評估」——放手。階段推進，就是這麼直覺。動作二，優先等級：點卡片上的星號——高優先案件排序自動置頂。動作三，分組檢視：搜尋列、「分組依據」、選「銷售人員」——整個看板立刻改成依人分堆；看完記得清除分組，回到階段視角。</a:t>
            </a:r>
          </a:p>
          <a:p>
            <a:r>
              <a:t>★金句：請注意剛剛發生的一件大事：你拖卡的那一秒，系統的報表已經同步更新了。「操作即紀錄」——這四個字，就是看板贏過 Excel 的地方：Excel 要人記得回去改，看板是做了就等於記了。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S52｜小演練：輸入五筆（★深講・10 分）</a:t>
            </a:r>
          </a:p>
          <a:p>
            <a:endParaRPr/>
          </a:p>
          <a:p>
            <a:r>
              <a:t>【宣讀規則後計時 10 分鐘，巡場；先完成者任命為小助教】</a:t>
            </a:r>
          </a:p>
          <a:p>
            <a:r>
              <a:t>換你們了。十分鐘，把表上五筆商機輸入系統，我唸一遍：中鋼福委會中秋禮盒，二十六萬，放「新潛在客戶」；晶華酒店房內茶包，十八萬，放「已評估」；台積電尾牙伴手禮，五十二萬，放「樣品試喝」；玉山銀行 VIP 禮盒，十五萬，放「提案」；誠品書店聯名禮盒，九萬，放「新潛在客戶」。</a:t>
            </a:r>
          </a:p>
          <a:p>
            <a:r>
              <a:t>金額照表打、階段照表放——第五節全班報表要對答案。</a:t>
            </a:r>
          </a:p>
          <a:p>
            <a:r>
              <a:t>完成後自我核對兩個數字：看板總共六筆、合計一百六十萬。快的同學，你現在就是小助教，請支援鄰座。計時開始。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S53｜實作 2-6 清單與批次（◐快講・2 分）</a:t>
            </a:r>
          </a:p>
          <a:p>
            <a:endParaRPr/>
          </a:p>
          <a:p>
            <a:r>
              <a:t>進休息前最後兩分鐘，看另一個視角，三步。第一步，切到清單：右上角視圖切換，點「清單」——同一批商機改用表格呈現，適合盤點與批改。第二步，批次選取：勾選多筆商機，上方出現「動作」選單。第三步，小試身手：選兩筆、「動作」、批次加上「年節檔」標籤——清單上也可以直接點格子修改單筆資料。</a:t>
            </a:r>
          </a:p>
          <a:p>
            <a:r>
              <a:t>★金句：記住這個分工：看板適合「推進」、清單適合「盤點」、樞紐適合「分析」——同一份資料，三種視角，切換免費。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S54｜檢核點②＋討論（★深講・4 分）</a:t>
            </a:r>
          </a:p>
          <a:p>
            <a:endParaRPr/>
          </a:p>
          <a:p>
            <a:r>
              <a:t>第二節驗收，三項：一，漏斗已是六階段、順序正確——含「樣品試喝」和「議價中」；二，看板六筆商機、合計約一百六十萬；三，會拖拉推進、優先星號、依銷售人員分組。都完成的舉手。</a:t>
            </a:r>
          </a:p>
          <a:p>
            <a:r>
              <a:t>【白板現場算】</a:t>
            </a:r>
          </a:p>
          <a:p>
            <a:r>
              <a:t>EMBA 時間，右邊這題現場算：加權漏斗值，比總額誠實在哪？課堂假設「提案」階段成功率五成——玉山案十五萬，對「加權漏斗值」的貢獻是多少？……七萬五。把六筆全部按各自成功率加權，總漏斗一百六十萬，加權下來大約六十八萬。</a:t>
            </a:r>
          </a:p>
          <a:p>
            <a:r>
              <a:t>【拋問，點 2 位】</a:t>
            </a:r>
          </a:p>
          <a:p>
            <a:r>
              <a:t>再想一層：對董事會報告，你報「漏斗一百六十萬」，還是「加權約六十八萬」？哪個更接近真話？為什麼業務通常只想報前者？</a:t>
            </a:r>
          </a:p>
          <a:p>
            <a:r>
              <a:t>……收斂：加權值更誠實——但前提是「成功率」的輸入有紀律。這個伏筆，第四節收。</a:t>
            </a:r>
          </a:p>
          <a:p>
            <a:r>
              <a:t>休息十五分鐘。廣播一件事：請不要登出、不要關瀏覽器分頁——下一節直接用這六筆商機。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S55｜第三節開場（分節頁）（★深講・30 秒）</a:t>
            </a:r>
          </a:p>
          <a:p>
            <a:endParaRPr/>
          </a:p>
          <a:p>
            <a:r>
              <a:t>歡迎回來，都還登著吧？很好。第三節的任務，一句話：把客戶關係從「個人資產」，變成「組織資產」。</a:t>
            </a:r>
          </a:p>
          <a:p>
            <a:r>
              <a:t>本節內容六塊：接觸點與資料模型、跟進紀律、聯絡人、活動與燈號、電子郵件歸檔、成交與損失——是全天實作最密的一節，五十五分鐘後，你會從頭到尾完整跑完一單。理論只講八分鐘，馬上開始。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S56｜接觸點與組織記憶（★深講・2 分）</a:t>
            </a:r>
          </a:p>
          <a:p>
            <a:endParaRPr/>
          </a:p>
          <a:p>
            <a:r>
              <a:t>回扣第一節的討論：離職業務帶走的到底是什麼？答案是——沒有被記錄的「接觸點」。</a:t>
            </a:r>
          </a:p>
          <a:p>
            <a:r>
              <a:t>左邊先定義：每一次通話、每一次會議、每一封電子郵件、每一次試喝、每一張報價——都是一次接觸點。客戶體驗，等於所有接觸點的總和；成交，等於接觸點的累積效果。那問題來了：這些接觸點，現在記在哪裡？</a:t>
            </a:r>
          </a:p>
          <a:p>
            <a:r>
              <a:t>右邊是殘酷的對照：記在 LINE、私人信箱、腦袋裡——那叫「個人資產」，會請假、會離職；記在系統的商機上——才是「組織資產」，可交接、可稽核、可學習。嘉禾老闆的第四個問題——資深業務退休——本質上就是一場組織記憶的壓力測試。</a:t>
            </a:r>
          </a:p>
          <a:p>
            <a:r>
              <a:t>★金句：本節接下來的每一個實作，都在做同一件事：把接觸點，從「腦袋與私訊」，搬進「案子身上」。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S57｜資料模型四框（◐快講・2 分）</a:t>
            </a:r>
          </a:p>
          <a:p>
            <a:endParaRPr/>
          </a:p>
          <a:p>
            <a:r>
              <a:t>【指著四個框，由左至右講關係】</a:t>
            </a:r>
          </a:p>
          <a:p>
            <a:r>
              <a:t>先看懂骨架，四種物件，一條鏈。「聯絡人」：公司與窗口——台塑企業、和它底下的王采購。「商機」：一個案子一張卡——台塑年節禮盒四十萬。「活動」：下一步待辦——語音通話、會議。「訊息紀錄」：備註和電子郵件往來——全部掛在商機上。</a:t>
            </a:r>
          </a:p>
          <a:p>
            <a:r>
              <a:t>為什麼「掛在商機上」是關鍵設計？三個好處。第一，以案子為中心：打開任一商機，等於看到它的完整人生——誰、談了什麼、下一步、金額。第二，以客戶為中心：打開任一位聯絡人，等於看到和這家公司所有案子的總和。第三，交接只要一個動作：把商機的「銷售人員」換人——整段歷史全部跟著走。</a:t>
            </a:r>
          </a:p>
          <a:p>
            <a:r>
              <a:t>這張圖記住了，本節每個實作你都知道自己在圖上的哪個框。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S58｜跟進紀律（★深講・2 分）</a:t>
            </a:r>
          </a:p>
          <a:p>
            <a:endParaRPr/>
          </a:p>
          <a:p>
            <a:r>
              <a:t>【指兩個大數字】</a:t>
            </a:r>
          </a:p>
          <a:p>
            <a:r>
              <a:t>兩個業界流傳的數字。左邊：八成的成交，發生在「第五次以後」的跟進。右邊：卻有四成四的業務，跟進一次就放棄。</a:t>
            </a:r>
          </a:p>
          <a:p>
            <a:r>
              <a:t>右上角的框先讀一下，數字怎麼讀：這是業界長年引用的經驗值——重點是方向，不是小數點。方向就是：多數成交在多次跟進之後，而多數人放棄得太早。</a:t>
            </a:r>
          </a:p>
          <a:p>
            <a:r>
              <a:t>★金句：那紀律怎麼系統化？只有一條鐵律，下面的框：每一筆進行中的商機，都必須有「下一個活動」——完成一個，立刻排下一個。</a:t>
            </a:r>
          </a:p>
          <a:p>
            <a:r>
              <a:t>等一下你會按到一顆按鈕，叫「完成，排期下一活動」——它，就是這條鐵律的自動化。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S59｜跟進節奏（○參考・1.5 分）</a:t>
            </a:r>
          </a:p>
          <a:p>
            <a:endParaRPr/>
          </a:p>
          <a:p>
            <a:r>
              <a:t>追多勤才專業而不擾人？這張嘉禾版的節奏表，五個時點完整走一遍。</a:t>
            </a:r>
          </a:p>
          <a:p>
            <a:r>
              <a:t>D+0，接觸當天：動作是感謝加摘要，通路用電子郵件——重述需求與下一步，附上型錄；讓對方睡前就收到你的整理。D+3，第一次跟進：改用語音通話——確認收到、回答疑問、順勢約試喝。D+7，價值推進：電子郵件加樣品——送樣或分享案例；注意，是「送價值」，不是「催單」。D+14，決策確認：語音通話——確認決策時程與障礙，這通決定案子的真假。D+30，節奏降頻：電子郵件——轉入每月保溫，並把「優先等級」調降，讓資源流向活案。</a:t>
            </a:r>
          </a:p>
          <a:p>
            <a:r>
              <a:t>★金句：重點不是照抄天數，是最下面那句：節奏因產業而異——關鍵是「寫成明文、排進系統」，而不是各憑手感。</a:t>
            </a:r>
          </a:p>
          <a:p>
            <a:r>
              <a:t>（趕時間版：當天回、三天追、七天送價值、十四天問決策、三十天降頻——回去改成你產業的版本。）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S60｜實作 3-1 聯絡人階層（★深講・3 分）</a:t>
            </a:r>
          </a:p>
          <a:p>
            <a:endParaRPr/>
          </a:p>
          <a:p>
            <a:r>
              <a:t>【示範，強調階層】</a:t>
            </a:r>
          </a:p>
          <a:p>
            <a:r>
              <a:t>動手，三步。第一步，開啟聯絡人：主選單、「聯絡人」、「新增」——類型這裡，選「公司」，名稱「台塑企業」，儲存。第二步，掛上窗口：在台塑的卡片裡新增聯絡人——王采購，「工作職位」填採購經理，電話、電子郵件補上。第三步，回商機確認：打開台塑商機——客戶欄掛的是「公司」，點開就看到窗口和所有往來。</a:t>
            </a:r>
          </a:p>
          <a:p>
            <a:r>
              <a:t>這裡有一個常見錯誤要當場預防：很多人把「窗口」直接建成一家獨立的公司。錯在哪？窗口會換人，公司關係要留下——王采購明年調走，台塑還是你的客戶。</a:t>
            </a:r>
          </a:p>
          <a:p>
            <a:r>
              <a:t>★金句：階層建對，交接才交得動。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S61｜實作 3-1b 通訊錄（★深講・3 分）</a:t>
            </a:r>
          </a:p>
          <a:p>
            <a:endParaRPr/>
          </a:p>
          <a:p>
            <a:r>
              <a:t>把嘉禾的通訊錄補齊。欄位的最低標準，四項，每一項都有理由。</a:t>
            </a:r>
          </a:p>
          <a:p>
            <a:r>
              <a:t>「工作職位」：決策鏈分析的基礎——承辦不等於拍板的人；嘉禾範例：採購經理、福委會主委。「電話、行動電話」：活動撥號、還有手機上一鍵撥打。「電郵」欄位——請特別注意這一格：它是電子郵件歸檔、和「類似潛在客戶」重複比對的鑰匙——它是整個第三節的隱形主角；範例格式像 wang@fpc.com.tw。「標籤」：客戶分群——VIP、通路商、媒體；嘉禾用「企業採購」。</a:t>
            </a:r>
          </a:p>
          <a:p>
            <a:r>
              <a:t>【小任務計時 2 分鐘】</a:t>
            </a:r>
          </a:p>
          <a:p>
            <a:r>
              <a:t>兩分鐘小任務：替其餘五家客戶——中鋼、晶華、台積電、玉山、誠品——各建一位窗口。姓名職稱自己編，電子郵件可以先空著。開始。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S62｜實作 3-2 安排活動（★深講・3 分）</a:t>
            </a:r>
          </a:p>
          <a:p>
            <a:endParaRPr/>
          </a:p>
          <a:p>
            <a:r>
              <a:t>把「下一步」寫進系統，四步。第一步，從商機安排：打開台塑商機，點「活動」、「安排活動」。</a:t>
            </a:r>
          </a:p>
          <a:p>
            <a:r>
              <a:t>第二步，第一個活動：類型選「語音通話」；到期日，明天；指派給——自己；摘要寫「確認試喝意願」。存。第三步，第二個接著排：類型「會議」，下週三，摘要「送樣簡報」。</a:t>
            </a:r>
          </a:p>
          <a:p>
            <a:r>
              <a:t>第四步，檢查鈴鐺：排完之後，抬頭看右上角的活動鈴鐺——你所有商機的下一步，全部集中在這一處提醒。從今天起，「我等等要跟誰」這件事，不再靠便利貼。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S63｜活動類型自訂（◐快講・2.5 分）</a:t>
            </a:r>
          </a:p>
          <a:p>
            <a:endParaRPr/>
          </a:p>
          <a:p>
            <a:r>
              <a:t>左邊先盤點系統內建的活動類型：「電郵、語音通話、會議、待辦事項、上載文件」——五種。每一種可以設預設天數和提醒，例如「語音通話」預設隔幾天到期。為什麼類型要統一？因為第五節的「活動量分析」要按類型統計——大家各叫各的，數字就沒意義。</a:t>
            </a:r>
          </a:p>
          <a:p>
            <a:r>
              <a:t>【右半動手示範】</a:t>
            </a:r>
          </a:p>
          <a:p>
            <a:r>
              <a:t>右邊動手，新增一個嘉禾專屬的：路徑是「配置」、「活動類型」、新增——名稱「送樣試喝」，安排天數三天，圖示任選。存好之後，回到任何商機的安排活動選單——新類型已經在裡面了。</a:t>
            </a:r>
          </a:p>
          <a:p>
            <a:r>
              <a:t>★金句：「送樣試喝」是嘉禾的關鍵動作，值得成為一種正式的活動類型。回去想一題：你的產業裡，哪個關鍵動作，值得升格成正式的活動類型？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S64｜實作 3-3 燈號與接力（★深講・3 分）</a:t>
            </a:r>
          </a:p>
          <a:p>
            <a:endParaRPr/>
          </a:p>
          <a:p>
            <a:r>
              <a:t>三步。第一步，看懂燈號：看板卡片右下角的彩色小點——綠色，活動排在未來，健康；黃色，今天到期；紅色，已經逾期。</a:t>
            </a:r>
          </a:p>
          <a:p>
            <a:r>
              <a:t>【示範兩顆按鈕的差別】</a:t>
            </a:r>
          </a:p>
          <a:p>
            <a:r>
              <a:t>第二步，完成活動：打開台塑那通「語音通話」，按「標記完成」——記得先寫一行結果摘要再按，例如「已通話，同意下週試喝」。</a:t>
            </a:r>
          </a:p>
          <a:p>
            <a:r>
              <a:t>第三步，完成並接力——更好的按法：「完成，排期下一活動」——完成的同時，直接跳出排下一步的視窗。這一顆，就是剛剛那條鐵律的引擎：案子永遠有下一步。</a:t>
            </a:r>
          </a:p>
          <a:p>
            <a:r>
              <a:t>★金句：給主管一個掃看板十秒的心法：紅點多的人，不是最忙的人——是最需要幫忙的人。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S65｜我的活動總覽（◐快講・2 分）</a:t>
            </a:r>
          </a:p>
          <a:p>
            <a:endParaRPr/>
          </a:p>
          <a:p>
            <a:r>
              <a:t>業務每天上工的第一個畫面，應該是這個，三件事。第一，打開我的活動：路徑「銷售」、「我的活動」——你所有商機的待辦，依逾期、今天、未來排好隊。第二，活動視圖：視圖切換裡還有一個「活動」檢視——一列一商機、一欄一活動類型，全貌一目瞭然，主管盤點全隊也用它。第三，建立晨間儀式：建議節奏，每天上工十分鐘三步——先清「紅點」、再排「今天」、最後掃一眼「明天」。</a:t>
            </a:r>
          </a:p>
          <a:p>
            <a:r>
              <a:t>★金句：當「我的活動」變成業務自己每天想打開的第一個畫面，CRM 就從「幫公司填表」變成「幫自己排程」——到那一天，導入就成功一半了。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S66｜實作 3-4 備註 vs 發送訊息（★深講・3 分）</a:t>
            </a:r>
          </a:p>
          <a:p>
            <a:endParaRPr/>
          </a:p>
          <a:p>
            <a:r>
              <a:t>商機下方的訊息區有兩個分頁，這一頁務必分清楚，事關職業安全。</a:t>
            </a:r>
          </a:p>
          <a:p>
            <a:r>
              <a:t>第一個分頁，「備註」——對內：內部筆記，客戶看不到。來，替台塑寫一句：「對方在意包裝質感」——存。這就是內部便利貼。</a:t>
            </a:r>
          </a:p>
          <a:p>
            <a:r>
              <a:t>第二個分頁，「發送訊息」——對外：寄給客戶的正式往來，會真的寄出去——下一個實作我們就實際寄。</a:t>
            </a:r>
          </a:p>
          <a:p>
            <a:r>
              <a:t>★金句：兩者的差別請刻在腦子裡：備註等於內部便利貼；發送訊息等於對外信件。分不清這兩個分頁、把內部評語寄給客戶——是真實世界 CRM 事故的常見榜首，而且無法收回。</a:t>
            </a:r>
          </a:p>
          <a:p>
            <a:r>
              <a:t>最後看一眼整個訊息區：打開任何商機往下捲，就是在重播這個案子的人生——這，就是「組織記憶」的具體長相。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S67｜@提及與關注人（◐快講・2 分）</a:t>
            </a:r>
          </a:p>
          <a:p>
            <a:endParaRPr/>
          </a:p>
          <a:p>
            <a:r>
              <a:t>兩個協作利器。第一個，@提及：在備註裡打一個小老鼠「@」，選同事——對方會收到通知，點一下直達這筆商機；課堂沒有同事，可以 @自己試試。第二個，「關注人」：商機右上角，把主管或協作同事加進來——此後這個案子的訊息動態自動推送給他。這是主管盯大案的正確姿勢——不用天天問，系統自動報。</a:t>
            </a:r>
          </a:p>
          <a:p>
            <a:r>
              <a:t>【兩兩互教 1 分鐘】</a:t>
            </a:r>
          </a:p>
          <a:p>
            <a:r>
              <a:t>第三件事，兩兩互教一分鐘：跟鄰座互相解說一次，@提及和關注人差在哪？……用教的，最記得住。</a:t>
            </a:r>
          </a:p>
          <a:p>
            <a:r>
              <a:t>★金句：轉寄信加 CC 大隊的時代，從這頁開始結束：討論就發生在案子上，新加入的人往上捲就能接手。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S68｜實作 3-5 電子郵件整合（★深講・4 分）</a:t>
            </a:r>
          </a:p>
          <a:p>
            <a:endParaRPr/>
          </a:p>
          <a:p>
            <a:r>
              <a:t>見證奇蹟的時刻，三步。</a:t>
            </a:r>
          </a:p>
          <a:p>
            <a:r>
              <a:t>第一步，從商機寄信：在台塑商機按「發送訊息」，收件人填「你自己的信箱」——我們用自己模擬客戶——隨便寫兩句，送出。</a:t>
            </a:r>
          </a:p>
          <a:p>
            <a:r>
              <a:t>第二步，檢查收信：去你的信箱收信。延遲一兩分鐘是正常的，先去查一下垃圾郵件夾。</a:t>
            </a:r>
          </a:p>
          <a:p>
            <a:r>
              <a:t>第三步，直接回信：收到後，在信箱按「回覆」，打兩個字，送出。然後回到 Odoo，重新整理——看，你的回信自動掛回了同一筆商機的訊息紀錄。沒有任何人手動轉存。</a:t>
            </a:r>
          </a:p>
          <a:p>
            <a:r>
              <a:t>【等待郵件期間先預告下一頁機制】</a:t>
            </a:r>
          </a:p>
          <a:p>
            <a:r>
              <a:t>螢幕下方的小字唸一下：免費資料庫有每日外寄郵件上限，課堂測試綽綽有餘；大量行銷寄送屬另外的付費服務。</a:t>
            </a:r>
          </a:p>
          <a:p>
            <a:r>
              <a:t>★金句：這一幕就是 CRM 和 Excel 的分水嶺：Excel 存的是「結果」，CRM 存的是「過程」——而且，自動存。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S69｜電子郵件機制原理（◐快講・1.5 分）</a:t>
            </a:r>
          </a:p>
          <a:p>
            <a:endParaRPr/>
          </a:p>
          <a:p>
            <a:r>
              <a:t>剛剛的魔術，兩分鐘拆解，三步機制。第一，每個資料庫有專屬網域：你的系統對外寄信時，寄件位址掛在「你的名稱.odoo.com」網域底下。第二，回覆位址內含案件線索：系統寄出的每一封信，回覆位址都能對應回「是哪一筆商機」。第三，收到回信自動掛回：客戶一按「回覆」，系統照著對應關係，把信掛回原商機的訊息紀錄——不必任何人手動轉存。</a:t>
            </a:r>
          </a:p>
          <a:p>
            <a:r>
              <a:t>管理涵義一句：正式導入時可以設定公司自有網域、做好收發整合——「客戶往來全在業務私人信箱」這個老問題，從此有解。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S70｜贏輸分析（★深講・2 分）</a:t>
            </a:r>
          </a:p>
          <a:p>
            <a:endParaRPr/>
          </a:p>
          <a:p>
            <a:r>
              <a:t>★金句：先給結論：輸掉的單，是付費買來的市場情報。</a:t>
            </a:r>
          </a:p>
          <a:p>
            <a:r>
              <a:t>左邊，為什麼要認真記「損失」，三條：一，損失不是失敗紀錄，是最真實的市場回饋；二，前提是有紀錄「為什麼輸」，而且分類一致；三，按月看「損失原因乘金額」——那就是產品與定價策略的體檢表。</a:t>
            </a:r>
          </a:p>
          <a:p>
            <a:r>
              <a:t>右邊是常見的分類清單：價格過高、規格不符、時程配合不上、選擇競爭者——記下是誰！——客戶預算取消。特別提醒：原因請用「選單」，不要自由填寫——五十種寫法的「太貴了」，沒辦法統計。</a:t>
            </a:r>
          </a:p>
          <a:p>
            <a:r>
              <a:t>★金句：管理者每季要問三題：我們最常輸給誰？輸在什麼原因？金額多大？沒有損失資料，這三題，全靠印象。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S71｜贏輸覆盤月會（○參考・1.5 分）</a:t>
            </a:r>
          </a:p>
          <a:p>
            <a:endParaRPr/>
          </a:p>
          <a:p>
            <a:r>
              <a:t>三十分鐘的贏輸覆盤月會，議程表四段完整講。第一段，五分鐘，本月成交盤點：看成交清單加金額，產出是「成功模式一句話」——這個月我們靠什麼贏。第二段，十分鐘，損失解剖：看「損失原因乘金額」——就是第五節會做的報表；產出是前兩大損因加對策。第三段，十分鐘，競爭者雷達：把「選擇競爭者」的案子拉清單，看競品動態與應對。第四段，五分鐘，行動決議：下個月要改的一件事——只挑一件，改得動的那件。</a:t>
            </a:r>
          </a:p>
          <a:p>
            <a:r>
              <a:t>★金句：只叮嚀一條紀律，最下面那句：對事不對人。會議的目的是「改流程與定價」，不是「檢討輸單的業務」——否則，下個月開始就沒有人敢誠實記原因了。</a:t>
            </a:r>
          </a:p>
          <a:p>
            <a:r>
              <a:t>（趕時間版：成交盤點、損失解剖、競爭者雷達、行動決議——三十分鐘、四段、照抄。）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S72｜實作 3-6 成交與損失（★深講・3 分）</a:t>
            </a:r>
          </a:p>
          <a:p>
            <a:endParaRPr/>
          </a:p>
          <a:p>
            <a:r>
              <a:t>【營造儀式感】</a:t>
            </a:r>
          </a:p>
          <a:p>
            <a:r>
              <a:t>收成時間，三步。第一步，成交一單：打開「中鋼福委會中秋禮盒」，看上方那顆按鈕——「成交」——按下去。全班第一筆成交，二十六萬入袋，掌聲鼓勵一下！</a:t>
            </a:r>
          </a:p>
          <a:p>
            <a:r>
              <a:t>【帶掌聲，停兩秒】</a:t>
            </a:r>
          </a:p>
          <a:p>
            <a:r>
              <a:t>第二步，損失一單：打開「誠品書店聯名禮盒」，按「已損失」。第三步，選損失原因：跳出視窗要選原因——選「價格過高」，清單裡沒有就現場新增；備註欄補一句說明，例如「對方預算上限六萬」，確認。</a:t>
            </a:r>
          </a:p>
          <a:p>
            <a:r>
              <a:t>輸單不可恥——輸得沒有紀錄才可惜。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S73｜找回與還原（★深講・2 分）</a:t>
            </a:r>
          </a:p>
          <a:p>
            <a:endParaRPr/>
          </a:p>
          <a:p>
            <a:r>
              <a:t>誠品案去哪了？看板上不見了，對吧。三步看懂。第一，損失單去哪了：看板預設「隱藏」已損失的商機——注意用詞，它沒有被刪除，是被歸檔。</a:t>
            </a:r>
          </a:p>
          <a:p>
            <a:r>
              <a:t>第二，篩選找回：搜尋列、「篩選」、勾「已損失」——誠品案重新現身，卡片上有損失標記。</a:t>
            </a:r>
          </a:p>
          <a:p>
            <a:r>
              <a:t>第三，還原：打開它，看到「還原」按鈕——按一下，它回到漏斗；我們是練習，再標回已損失。重點是：客戶回頭時，整段歷史還在。</a:t>
            </a:r>
          </a:p>
          <a:p>
            <a:r>
              <a:t>★金句：記住這個管理禁忌：「刪掉輸單」是資料紀律的大忌。你刪掉的不是失敗——是客戶回頭時的完整歷史，是下一次談判的情報。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S74｜小演練：玉山案全流程（★深講・8 分）</a:t>
            </a:r>
          </a:p>
          <a:p>
            <a:endParaRPr/>
          </a:p>
          <a:p>
            <a:r>
              <a:t>【宣讀五步後計時 8 分鐘，巡場】</a:t>
            </a:r>
          </a:p>
          <a:p>
            <a:r>
              <a:t>綜合演練，八分鐘，獨立完成玉山銀行案的五步。我唸一遍：第一步，安排並完成通話——為玉山案安排「語音通話」，然後用「完成，排期下一活動」把它勾掉、順勢排下一步；第二步，安排並完成會議——「會議：送樣簡報」，標記完成；第三步，記錄客戶需求——寫一則「備註」：「客戶要求改用木盒包裝，單價需重議」；第四步，寄出一封訊息——「發送訊息」給自己的信箱，主旨自訂；第五步，收單——把商機標記「成交」。</a:t>
            </a:r>
          </a:p>
          <a:p>
            <a:r>
              <a:t>驗收標準只有一條：完成後，打開玉山案往下捲——訊息紀錄應該留下一條完整、可重播的歷程，像看連續劇一樣。計時開始。</a:t>
            </a:r>
          </a:p>
          <a:p>
            <a:r>
              <a:t>【結束後抽 1–2 位投影其訊息紀錄，全班一起「重播」】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S75｜壞資料 vs 好資料（◐快講・2 分）</a:t>
            </a:r>
          </a:p>
          <a:p>
            <a:endParaRPr/>
          </a:p>
          <a:p>
            <a:r>
              <a:t>對照組看一眼——同一筆商機的兩種人生。</a:t>
            </a:r>
          </a:p>
          <a:p>
            <a:r>
              <a:t>左邊，壞資料版的玉山案，這是多數公司的現場：預期收入空白、預期結束空白；活動無、訊息紀錄無；主管問進度，答案是「我再確認一下」；業務離職，案子直接歸零重談。</a:t>
            </a:r>
          </a:p>
          <a:p>
            <a:r>
              <a:t>右邊，是你們剛剛親手完成的版本：十五萬、預期結束日明確、階段「提案」；通話加會議的完成紀錄、木盒需求寫在備註、往來電子郵件自動歸檔；主管自己打開，三十秒看完全貌；任何人接手，往上捲就能無縫續談。</a:t>
            </a:r>
          </a:p>
          <a:p>
            <a:r>
              <a:t>★金句：兩者的差別不是軟體功能——是五分鐘的輸入紀律。而本節已經證明：那五分鐘，大半可以被系統自動化。資料品質，決定管理品質。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S76｜檢核點③＋討論（★深講・4 分）</a:t>
            </a:r>
          </a:p>
          <a:p>
            <a:endParaRPr/>
          </a:p>
          <a:p>
            <a:r>
              <a:t>第三節驗收，三項：一，聯絡人建有「公司加窗口」的階層，六家都齊；二，活動會排、會完成、會用「完成，排期下一活動」接力，燈號看得懂；三，完成兩筆成交——中鋼和玉山、一筆已損失——誠品，含原因。都完成的舉手。</a:t>
            </a:r>
          </a:p>
          <a:p>
            <a:r>
              <a:t>【正反各點一位，各 1 分鐘】</a:t>
            </a:r>
          </a:p>
          <a:p>
            <a:r>
              <a:t>EMBA 辯論題：「活動量」該不該當 KPI？系統能輕易統計每位銷售人員的通話數、拜訪數。正方請說——過程指標可管理、可以早期介入。反方——為了衝量而灌水，資料反而失真。</a:t>
            </a:r>
          </a:p>
          <a:p>
            <a:r>
              <a:t>……兩邊都對。追問一句：你會怎麼設計，讓指標「引導」行為、而不是「扭曲」行為？</a:t>
            </a:r>
          </a:p>
          <a:p>
            <a:r>
              <a:t>收斂：過程指標和結果指標要「配對」使用，再加抽查品質——這題的完整解答，在第五節的「反噬指標表」。先記住問題，等答案。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S77｜第四節開場（分節頁）（★深講・30 秒）</a:t>
            </a:r>
          </a:p>
          <a:p>
            <a:endParaRPr/>
          </a:p>
          <a:p>
            <a:r>
              <a:t>第四節，智慧功能：讓系統幫你排序時間、預估未來——同時，認清 AI 的能與不能。</a:t>
            </a:r>
          </a:p>
          <a:p>
            <a:r>
              <a:t>本節內容看分節頁：ABC 分級、評分四型、RFM、銷售預測，然後動手——開啟「預測潛在客戶評分」、預測視圖開月會、自訂損失原因、最後拿出你的手機。先講二十分鐘理論，馬上開始。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S78｜ABC 分級與評分（★深講・2 分）</a:t>
            </a:r>
          </a:p>
          <a:p>
            <a:endParaRPr/>
          </a:p>
          <a:p>
            <a:r>
              <a:t>先分清楚兩件常被混為一談的事。</a:t>
            </a:r>
          </a:p>
          <a:p>
            <a:r>
              <a:t>左邊，ABC 分級——管的是「存量客戶」：A 級，前兩成客戶，常貢獻六到八成營收——配資深業務加主管定期拜訪；B 級，中堅客戶——標準服務節奏，找升級機會；C 級，長尾客戶——低成本自動化維繫，電子郵件、電商就好。</a:t>
            </a:r>
          </a:p>
          <a:p>
            <a:r>
              <a:t>右邊，評分——管的是「流量商機」：對象是進行中的商機和名單，不是老客戶。它回答的問題非常具體：五十筆商機、八小時，先打給誰？本節要開的「預測潛在客戶評分」，就是這件事的自動化。</a:t>
            </a:r>
          </a:p>
          <a:p>
            <a:r>
              <a:t>★金句：一句話區分：分級決定「服務資源怎麼配」，評分決定「業務時間怎麼排」。而這兩張表，都要有 CRM 的資料才算得出來——又回到資料紀律。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S79｜評分四型（★深講・2 分）</a:t>
            </a:r>
          </a:p>
          <a:p>
            <a:endParaRPr/>
          </a:p>
          <a:p>
            <a:r>
              <a:t>評分的方法有四型，由淺到深。第一型，顯性評分——看「他是誰」：職稱、產業、公司規模，名片上讀得到的條件。第二型，隱性評分——看「他做了什麼」：開信、點選連結、下載型錄、索取樣品——行為訊號，常比身分誠實。第三型，規則式——人工訂分：職稱是採購加十分、沒預算扣二十——透明好懂，但要有人維護。第四型，預測式——本節主角：用歷史的成交與損失資料訓練模型，自動估「成功率」——資料愈多愈準。</a:t>
            </a:r>
          </a:p>
          <a:p>
            <a:r>
              <a:t>★金句：Odoo 的「預測潛在客戶評分」就是第四型。它吃的是你資料庫裡的贏輸歷史——所以，第三節各位建立的紀律，就是本節 AI 的燃料。這句話反過來唸一樣成立：AI，不能替代資料紀律。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S80｜RFM 模型（◐快講・2 分）</a:t>
            </a:r>
          </a:p>
          <a:p>
            <a:endParaRPr/>
          </a:p>
          <a:p>
            <a:r>
              <a:t>RFM，三個字母三個維度，連嘉禾的算法一起講。R，最近性 Recency——最近一次往來距今多久；嘉禾用「最近一次採購距今月數」；分箱規則：愈近分數愈高，一到五分。F，頻率 Frequency——一段期間往來幾次；嘉禾用「近兩年採購次數」；愈多愈高。M，金額 Monetary——累計貢獻金額；嘉禾用「近兩年採購總額」；愈大愈高。</a:t>
            </a:r>
          </a:p>
          <a:p>
            <a:r>
              <a:t>讀法看兩個例子：台塑，R5、F4、M5——五四五，典型 A 級，續約季主動出擊；反過來，某沉睡客戶 R1、F3、M4——高價值但很久沒往來，這種要放進「喚醒名單」第一順位。</a:t>
            </a:r>
          </a:p>
          <a:p>
            <a:r>
              <a:t>RFM 的美在於：只需要交易紀錄就能算——它是中小企業「第一個買得起」的分析模型，而交易紀錄，正是 CRM 每天在累積的東西。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S81｜評分模型五步（○參考・1.5 分）</a:t>
            </a:r>
          </a:p>
          <a:p>
            <a:endParaRPr/>
          </a:p>
          <a:p>
            <a:r>
              <a:t>想自建評分模型，五步流程完整走一遍。第一步，定義 ICP，理想客戶輪廓：哪種產業、規模、情境的客戶，我們贏率最高、毛利最好？先把「好客戶」說清楚。第二步，挑變數：從顯性——產業、職稱，和隱性——索樣、回信速度，各挑三到五個，別貪多。第三步，給權重：先用團隊共識粗訂——別追求一次完美，先動起來。第四步，驗證回測：拿過去一季的贏輸資料驗證——高分群的實際成交率，有沒有真的比較高？沒有，就是變數或權重選錯了。第五步，每季迭代：汰換無效變數、調整權重。</a:t>
            </a:r>
          </a:p>
          <a:p>
            <a:r>
              <a:t>★金句：一句話總結：模型是活的，市場也是——一季一輪。</a:t>
            </a:r>
          </a:p>
          <a:p>
            <a:r>
              <a:t>（趕時間版：定義好客戶、挑變數、給權重、回測、每季迭代——五步照走。）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S82｜預測兩條路（★深講・2 分）</a:t>
            </a:r>
          </a:p>
          <a:p>
            <a:endParaRPr/>
          </a:p>
          <a:p>
            <a:r>
              <a:t>銷售預測，兩條路。左邊，Bottom-up 由下而上：逐筆商機的「預期收入」乘「成功率」，加總——這就是「加權漏斗值」的正式名字；第二節各位手算的六十八萬，就是它的手工版。優點：貼近現實、可以追溯到每一筆；缺點：完全仰賴輸入紀律。</a:t>
            </a:r>
          </a:p>
          <a:p>
            <a:r>
              <a:t>右邊，Top-down 由上而下：市場規模乘目標市占等於營收目標，再往下拆到團隊與個人。優點：策略視角，用於年度規劃與資源配置；缺點：離第一線太遠。</a:t>
            </a:r>
          </a:p>
          <a:p>
            <a:r>
              <a:t>★金句：成熟的團隊，兩條都算。然後看差距——差距太大，就是該追問的訊號：是目標訂得太夢幻，還是漏斗灌了水？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S83｜預測準度（◐快講・1.5 分）</a:t>
            </a:r>
          </a:p>
          <a:p>
            <a:endParaRPr/>
          </a:p>
          <a:p>
            <a:r>
              <a:t>預測準不準，不能用吵的，要量，三步。第一，量什麼：偏差率，等於月初預測、減月底實際、除以月底實際。正值代表樂觀灌水，負值代表保守藏單——藏單也是病，佔著資源不報。第二，怎麼記：每月一號把「預測視圖」的當月合計截圖存檔；月底對實際成交。第三，怎麼用：連續三個月偏差超過正負兩成——該檢討的不是業務的能力，是「成功率與結案日」的輸入紀律。</a:t>
            </a:r>
          </a:p>
          <a:p>
            <a:r>
              <a:t>★金句：預測文化的成熟標誌一句話：會議上敢報壞消息、而且壞消息有數字——藏單與灌水，都是紀律問題，不是能力問題。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S84｜實作 4-1 開啟預測評分（★深講・4 分）</a:t>
            </a:r>
          </a:p>
          <a:p>
            <a:endParaRPr/>
          </a:p>
          <a:p>
            <a:r>
              <a:t>【示範，路徑照唸】</a:t>
            </a:r>
          </a:p>
          <a:p>
            <a:r>
              <a:t>動手開 AI，三步。第一步，進入設定：上方選單「配置」、「設定」，往下找到「預測潛在客戶評分」這個區塊。第二步，更新概率：點「更新概率」——會跳出視窗，讓你勾選模型要採計的欄位：來源、階段、電子郵件品質這些——勾好，確認。第三步，回商機觀察：打開任何一筆商機，看「成功率」欄位——出現系統自動估的數值了。</a:t>
            </a:r>
          </a:p>
          <a:p>
            <a:r>
              <a:t>先管理一下期望：課堂的資料量太小，這個數值只是示意；真實環境要累積幾十筆成交和損失之後，它才會漸漸準起來。</a:t>
            </a:r>
          </a:p>
          <a:p>
            <a:r>
              <a:t>★金句：但這正是管理啟示：AI 要吃「歷史成交與損失資料」才會準——所以，早導入、早累積。資料紀律是 AI 的前提，不是 AI 替代資料紀律。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S85｜實作 4-1b 手動覆寫（★深講・3 分）</a:t>
            </a:r>
          </a:p>
          <a:p>
            <a:endParaRPr/>
          </a:p>
          <a:p>
            <a:r>
              <a:t>成功率有兩種來源——系統估，和人工判斷——看台積電案示範，三步。第一步，觀察自動值：打開「台積電尾牙」案——現在的成功率是系統自動估的，課堂資料少、數值僅示意。第二步，手動覆寫：假設情境——你昨天剛陪業務拜訪回來，判斷比系統樂觀——直接把「成功率」改成八十。注意欄位旁邊出現的切換標記：這代表這一筆已經「鎖定為人工值」，系統不再自動更新它。第三步，切回自動：點那個標記，可以隨時交還給系統自動估——人與模型，隨時可以換手。</a:t>
            </a:r>
          </a:p>
          <a:p>
            <a:r>
              <a:t>★金句：這個設計哲學值得帶回公司：系統給預設、人保留否決權、而且「誰改的」留有痕跡——好的人機分工，就長這個樣子。最後一個好習慣：手動覆寫的理由，順手寫進「備註」——三個月後回測的時候，你會感謝現在的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S86｜實作 4-2 預測視圖（★深講・4 分）</a:t>
            </a:r>
          </a:p>
          <a:p>
            <a:endParaRPr/>
          </a:p>
          <a:p>
            <a:r>
              <a:t>接下來，看未來的錢，四步。第一步，開啟預測：上方選單「報告」、「預測」。第二步，看懂分欄：商機依照「預期結束」的月份分欄排列，每一欄的上方，是該月的預計成交合計——這就是你未來幾個月的營收長相。</a:t>
            </a:r>
          </a:p>
          <a:p>
            <a:r>
              <a:t>【示範拖卡】</a:t>
            </a:r>
          </a:p>
          <a:p>
            <a:r>
              <a:t>第三步，拖卡改期：把玉山案抓起來，拖到下一個月——注意，這一拖，它的「預期結束」日期就直接更新了，不用進表單改。第四步，切換量度：把「量度」切成「預期收入」——各月金額一目瞭然。</a:t>
            </a:r>
          </a:p>
          <a:p>
            <a:r>
              <a:t>記住這個畫面。它，就是月會該投影的畫面。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S87｜實作 4-2b 月會模擬（★深講・3 分）</a:t>
            </a:r>
          </a:p>
          <a:p>
            <a:endParaRPr/>
          </a:p>
          <a:p>
            <a:r>
              <a:t>【扮演主持人，點 2–3 位答辯】</a:t>
            </a:r>
          </a:p>
          <a:p>
            <a:r>
              <a:t>現場開一場三分鐘的預測月會，我當主持人，三步流程。</a:t>
            </a:r>
          </a:p>
          <a:p>
            <a:r>
              <a:t>第一步，投影本月欄：指著本月的合計——「各位，這是我們對月底的承諾。」</a:t>
            </a:r>
          </a:p>
          <a:p>
            <a:r>
              <a:t>第二步，逐案問證據：對每張卡片問同一句話：「這個案子，憑什麼放在這個月？」</a:t>
            </a:r>
          </a:p>
          <a:p>
            <a:r>
              <a:t>【點一位，指著任一張卡】</a:t>
            </a:r>
          </a:p>
          <a:p>
            <a:r>
              <a:t>這位主管，台積電五十二萬放在這個月——證據是什麼？……最近一次活動？客戶的承諾？答不出證據——好，當場拖到下個月。</a:t>
            </a:r>
          </a:p>
          <a:p>
            <a:r>
              <a:t>【再點一位，重複】</a:t>
            </a:r>
          </a:p>
          <a:p>
            <a:r>
              <a:t>第三步，散會即更新：會開完，系統已經是最新狀態——不需要另外寫會議紀錄，不需要回去改 Excel。</a:t>
            </a:r>
          </a:p>
          <a:p>
            <a:r>
              <a:t>★金句：預測會議的品質革命就在這：從「喊數字」，變成「查證據」。而證據是什麼？就是第三節你們留下的活動與訊息紀錄。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S88｜實作 4-3 自訂損失原因（★深講・3 分）</a:t>
            </a:r>
          </a:p>
          <a:p>
            <a:endParaRPr/>
          </a:p>
          <a:p>
            <a:r>
              <a:t>把系統調成你產業的語言，三步。第一步，新增原因：「配置」、「損失原因」、新增兩條——「包裝不符需求」、「時程延後」。為什麼要自訂？因為預設清單是通用語言，統計要有意義，得用你產業真實的輸單原因。</a:t>
            </a:r>
          </a:p>
          <a:p>
            <a:r>
              <a:t>第二步，實際用一次：打開「晶華酒店房內茶包」，標記「已損失」，原因選剛建的「包裝不符需求」，確認。</a:t>
            </a:r>
          </a:p>
          <a:p>
            <a:r>
              <a:t>【預告】</a:t>
            </a:r>
          </a:p>
          <a:p>
            <a:r>
              <a:t>別急著救它——等一下最後一個實作，我們用手機把它救回來。</a:t>
            </a:r>
          </a:p>
          <a:p>
            <a:r>
              <a:t>第三步，分類的紀律：原因清單全公司統一維護、指定專人；季度檢視一次——如果報表上「其他」超過兩成，就是分類該檢討的時候了。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S89｜類似潛在客戶與合併（★深講・4 分）</a:t>
            </a:r>
          </a:p>
          <a:p>
            <a:endParaRPr/>
          </a:p>
          <a:p>
            <a:r>
              <a:t>重複偵測，三步。第一步，先製造案發現場：「新增」一筆商機——名稱「台塑年節禮盒(重複)」，客戶一樣選台塑企業，存。</a:t>
            </a:r>
          </a:p>
          <a:p>
            <a:r>
              <a:t>第二步，類似潛在客戶：打開任何一筆台塑的案子——看右上角，出現了一顆智慧按鈕：「類似潛在客戶」。系統依「同客戶、同電子郵件」自動比對——記得第三節說電郵欄位是隱形主角嗎？就是用在這。</a:t>
            </a:r>
          </a:p>
          <a:p>
            <a:r>
              <a:t>第三步，合併：切到清單視圖，勾選兩筆台塑案，「動作」、「合併」——兩筆彙整成一筆，訊息和活動的歷史一併保留，不會丟。</a:t>
            </a:r>
          </a:p>
          <a:p>
            <a:r>
              <a:t>★金句：為什麼這顆按鈕重要？兩個業務同時追同一家客戶而不自知——報價互打、客戶看笑話——是名單制公司最貴的浪費。重複偵測，就是這題的保險絲。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S90｜AI 走進 CRM（★深講・2 分）</a:t>
            </a:r>
          </a:p>
          <a:p>
            <a:endParaRPr/>
          </a:p>
          <a:p>
            <a:r>
              <a:t>拉高視角看 AI 在 Odoo 19 的現況，三塊。第一塊，AI 評分與指派——除了預測成功率，新進的潛在商機還能依規則加 AI 輔助，自動分派給合適的銷售人員。第二塊，生成式 AI 寫作——電子郵件草稿、商機摘要一鍵生成；名片拍照自動建檔。第三塊，AI Agent 代理——Odoo 19 陸續強化：讀文件建資料、自然語言查詢、會議轉錄。</a:t>
            </a:r>
          </a:p>
          <a:p>
            <a:r>
              <a:t>【指管理視角框，放慢】</a:t>
            </a:r>
          </a:p>
          <a:p>
            <a:r>
              <a:t>下面這段管理視角請聽好：AI 消滅的是「輸入與整理」的工，不是「判斷與關係」的活。當摘要與草稿都自動生成——主管的價值移到哪？問對問題、查證假設、決定取捨。</a:t>
            </a:r>
          </a:p>
          <a:p>
            <a:r>
              <a:t>括號裡的小字也唸一下：部分 AI 功能屬付費或額度制，導入前以官網為準。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S91｜生成式 AI 六落點（◐快講・1.5 分）</a:t>
            </a:r>
          </a:p>
          <a:p>
            <a:endParaRPr/>
          </a:p>
          <a:p>
            <a:r>
              <a:t>六個落點完整掃一遍。一，電子郵件草稿：跟進信、報價說明一鍵起草——人只做「改與判斷」。二，商機摘要：長篇往來自動濃縮——交接與主管快讀的神器。三，名片建檔：拍照、自動辨識建立聯絡人——展會後的救星，一疊名片半小時進系統。四，會議轉錄：拜訪錄音轉文字掛回商機——「當下輸入」的終極型。五，自然語言查詢：「上季輸給誰最多？」直接用問的，不用學報表。六，智慧指派：新名單依規則加 AI 建議，分給對的人。</a:t>
            </a:r>
          </a:p>
          <a:p>
            <a:r>
              <a:t>★金句：六個落點的共同點，一句話：全是「輸入、整理、檢索」——正好是業務最抗拒、資料最容易流失的環節。AI 撿的，就是這些工。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S92｜AI 治理三原則（★深講・2 分）</a:t>
            </a:r>
          </a:p>
          <a:p>
            <a:endParaRPr/>
          </a:p>
          <a:p>
            <a:r>
              <a:t>AI 治理三原則，把界線先講清楚，回公司直接用。</a:t>
            </a:r>
          </a:p>
          <a:p>
            <a:r>
              <a:t>原則一：AI 排序，人決策。分數的用途是「排今天先打給誰」；但調人力、給折扣、放棄案子——由人拍板，責任不外包給演算法。</a:t>
            </a:r>
          </a:p>
          <a:p>
            <a:r>
              <a:t>原則二：獎金不直接掛預測值。這條最容易踩：預測值一旦連動獎金，輸入行為立刻扭曲——該掛的是「實際成交」加「資料品質抽查」。</a:t>
            </a:r>
          </a:p>
          <a:p>
            <a:r>
              <a:t>原則三：定期回測。每季驗證一次：高分群的實際成交率，有沒有真的比較高？失準了，回頭修的是資料紀律，而不是關掉功能。</a:t>
            </a:r>
          </a:p>
          <a:p>
            <a:r>
              <a:t>★金句：一句話版本：AI 給建議、人負全責、數據可稽核。這三句話，適用於你公司未來所有的 AI 導入案——不只 CRM。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S93｜實作 4-4 行動裝置（★深講・5 分）</a:t>
            </a:r>
          </a:p>
          <a:p>
            <a:endParaRPr/>
          </a:p>
          <a:p>
            <a:r>
              <a:t>【請全班拿出手機】</a:t>
            </a:r>
          </a:p>
          <a:p>
            <a:r>
              <a:t>最後一個實作，拿出手機，三步。第一步，手機登入：打開瀏覽器，直接輸入「你的名稱.odoo.com」——帳號密碼和電腦一樣；不用裝 App 也能跑，想安裝 Odoo App 也可以。</a:t>
            </a:r>
          </a:p>
          <a:p>
            <a:r>
              <a:t>第二步，操作看板：登入後進 CRM、「我的商機」——看板、拖卡、活動、訊息，手機上全部能操作。</a:t>
            </a:r>
          </a:p>
          <a:p>
            <a:r>
              <a:t>第三步，情境演練：假想你剛從晶華酒店拜訪出來，站在停車場——在手機上打開晶華案，寫一則「備註」：「客戶重啟評估」；然後按「還原」——它回到漏斗了。沒帶手機的同學，跟鄰座共看，不影響過關。</a:t>
            </a:r>
          </a:p>
          <a:p>
            <a:r>
              <a:t>★金句：為什麼行動化重要？因為資料品質的關鍵在「當下輸入」——回辦公室才補登，就是失真的開始。行動化不是加分題，是必要條件。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S94｜檢核點④＋討論（★深講・6 分）</a:t>
            </a:r>
          </a:p>
          <a:p>
            <a:endParaRPr/>
          </a:p>
          <a:p>
            <a:r>
              <a:t>第四節驗收，三項：一，「預測潛在客戶評分」已開啟，商機看得到自動的「成功率」；二，會用預測視圖，並拖卡改「預期結束」月份；三，損失原因已客製；手機完成晶華案的備註和「還原」。都完成的舉手。</a:t>
            </a:r>
          </a:p>
          <a:p>
            <a:r>
              <a:t>【討論 3 分鐘，正反點人】</a:t>
            </a:r>
          </a:p>
          <a:p>
            <a:r>
              <a:t>EMBA 討論，題目：你會讓 AI 的分數決定資源分配嗎？假設系統說 A 案成功率七十八、B 案二十二。第一問：要不要因此把資深業務調去 A 案？第二問：獎金要不要跟預測值掛鉤？第三問：界線在哪——AI 提供排序建議，和 AI 直接決定，說出你的治理原則。</a:t>
            </a:r>
          </a:p>
          <a:p>
            <a:r>
              <a:t>……聽到關鍵字了：「參考但不盲從」、「掛實際不掛預測」。收斂回三原則：AI 排序建議、人做決策、定期回測。</a:t>
            </a:r>
          </a:p>
          <a:p>
            <a:r>
              <a:t>休息十分鐘。預告：回來就是計分挑戰，一百分，準備好。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S95｜第五節開場（分節頁）（★深講・30 秒）</a:t>
            </a:r>
          </a:p>
          <a:p>
            <a:endParaRPr/>
          </a:p>
          <a:p>
            <a:r>
              <a:t>最後一節，也是各位身分轉換的一節：從「輸入資料的人」，變成「會問問題的管理者」。</a:t>
            </a:r>
          </a:p>
          <a:p>
            <a:r>
              <a:t>本節內容看分節頁：KPI 體系、儀表板原則、商機漏斗管理分析、樞紐分析表、最愛與匯出、綜合挑戰、導入策略。流程：先十分鐘 KPI 理論、再二十分鐘報表實作、一場十五分鐘計分挑戰、最後談導入。五點準時下課。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S96｜KPI 體系（★深講・2.5 分）</a:t>
            </a:r>
          </a:p>
          <a:p>
            <a:endParaRPr/>
          </a:p>
          <a:p>
            <a:r>
              <a:t>銷售 KPI 分四類，看表逐列講，連「怎麼算」和「系統哪裡看」。</a:t>
            </a:r>
          </a:p>
          <a:p>
            <a:r>
              <a:t>第一類，結果指標，也叫落後指標：營收、贏單率——贏單率等於成交數，除以成交加損失；系統在「商機漏斗管理分析」看。特性是「事後才知道」，只能檢討，不能介入。第二類，過程指標，領先指標：新增商機數、活動量——看週別走勢加人別分佈；系統用分組依據和活動報表看。第三類，效率指標：平均銷售週期——成交日減建立日；平均單值——金額除以件數；用樞紐分析表算。第四類，健康指標：漏斗覆蓋率——漏斗總額除以目標，要大於等於三到四倍；量度切「預期收入」就看得到。</a:t>
            </a:r>
          </a:p>
          <a:p>
            <a:r>
              <a:t>★金句：請把過程指標這一行圈起來，記這句：「新增商機數連兩週下滑」，等於兩個月後的營收缺口已經注定——領先指標的價值，就在於「還來得及介入」。等結果指標變難看，已經太遲了。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S97｜北極星與反噬（★深講・2.5 分）</a:t>
            </a:r>
          </a:p>
          <a:p>
            <a:endParaRPr/>
          </a:p>
          <a:p>
            <a:r>
              <a:t>回收第三節那場辯論：活動量該不該當 KPI？答案藏在一條定律裡——古德哈特定律：當一個量測變成目標，它就不再是好量測。</a:t>
            </a:r>
          </a:p>
          <a:p>
            <a:r>
              <a:t>【逐列唸配對表】</a:t>
            </a:r>
          </a:p>
          <a:p>
            <a:r>
              <a:t>看反噬表，四列。你考核「新增商機數」，就有人灌假商機、把名片全倒進系統——所以要配「合格轉換率加主管抽查」。你考核「活動量」——通話、拜訪，就有人為衝量而灌水、一通電話拆成三筆——配「活動到推進率」，看活動有沒有真的讓案子動。你考核「贏單率」，就有人只挑穩贏的小案、把難案藏起來——配「平均單值加漏斗覆蓋率」。你考核「成交速度」，就有人亂降價換快簽——配「毛利率、折扣率」。</a:t>
            </a:r>
          </a:p>
          <a:p>
            <a:r>
              <a:t>★金句：所以解方不是「不量」，是「成對地量」——每個北極星指標，都要配一個制衡指標。這就是第三節那題辯論的完整答案。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S98｜儀表板四原則（◐快講・1.5 分）</a:t>
            </a:r>
          </a:p>
          <a:p>
            <a:endParaRPr/>
          </a:p>
          <a:p>
            <a:r>
              <a:t>儀表板設計四原則，少即是多。一，一頁一目的：這頁到底回答哪一個管理問題？答不出來就砍掉。二，指標五加減二：超過七個指標，等於沒有重點——先選會「引發行動」的。三，永遠帶基準：跟上月比、跟目標比、跟去年同期比——沒有比較，數字沒有意義。四，可往下鑽：總數異常時，兩三下點選要能鑽到「是哪幾筆」——看得到總數、找不到明細的儀表板，只能焦慮，不能行動。</a:t>
            </a:r>
          </a:p>
          <a:p>
            <a:r>
              <a:t>★金句：一句金句收尾：儀表板的目的，不是展示努力，是引發下一個管理動作。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S99｜三層報表（○參考・1.5 分）</a:t>
            </a:r>
          </a:p>
          <a:p>
            <a:endParaRPr/>
          </a:p>
          <a:p>
            <a:r>
              <a:t>三層報表架構，三列完整講——不同高度，看不同的圖。</a:t>
            </a:r>
          </a:p>
          <a:p>
            <a:r>
              <a:t>經營層，頻率是月：核心畫面看覆蓋率、預測對目標、損失原因分佈；要回答的問題是「這季安不安全？輸在哪裡？」主管層，頻率是週：看階段分佈乘銷售人員、逾期紅點、加權值變化；回答「誰卡住？該幫誰？」個人層，頻率是日：看「我的活動」、「我的商機」；回答「我今天先做哪三件事？」</a:t>
            </a:r>
          </a:p>
          <a:p>
            <a:r>
              <a:t>★金句：同一份資料、三個高度——這正是「單一事實來源」的價值：不再有行銷版、業務版、老闆版三套打架的數字。</a:t>
            </a:r>
          </a:p>
          <a:p>
            <a:r>
              <a:t>（趕時間版：經營層看月、主管層看週、個人層看日——回去照這張表分工。）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S100｜週會 SOP（○參考・1.5 分）</a:t>
            </a:r>
          </a:p>
          <a:p>
            <a:endParaRPr/>
          </a:p>
          <a:p>
            <a:r>
              <a:t>用系統開週會的三十分鐘議程，四段連投影畫面一起講。</a:t>
            </a:r>
          </a:p>
          <a:p>
            <a:r>
              <a:t>第一段，五分鐘，紅點清點：投影「我的活動」看全隊逾期——產出是逾期歸零承諾。第二段，十分鐘，漏斗走查：投影商機漏斗、分組依據選銷售人員——每人一句：「本週推進哪三案」。第三段，十分鐘，大案深談：投影優先等級標星的案件——產出障礙與支援決議。第四段，五分鐘，決議入系統：現場排活動、改階段——散會，等於系統已更新，不用另寫會議紀錄。</a:t>
            </a:r>
          </a:p>
          <a:p>
            <a:r>
              <a:t>★金句：規則只有一條，最下面那句，回去馬上能用：不在系統裡的，不討論。執行兩週，你會發現資料自己變乾淨了——因為大家知道，沒進系統的案子，週會上不存在。</a:t>
            </a:r>
          </a:p>
          <a:p>
            <a:r>
              <a:t>（趕時間版：清紅點、走漏斗、談大案、決議入系統——三十分鐘照抄。）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S101｜實作 5-1 商機漏斗管理分析（★深講・4 分）</a:t>
            </a:r>
          </a:p>
          <a:p>
            <a:endParaRPr/>
          </a:p>
          <a:p>
            <a:r>
              <a:t>【切到完成庫示範（資料量足圖才好看），學員用自己的庫跟做】</a:t>
            </a:r>
          </a:p>
          <a:p>
            <a:r>
              <a:t>動手做第一張管理圖，四步。第一步，開啟報表：上方選單「報告」、「商機漏斗」——進入「商機漏斗管理分析」。第二步，換量度：「量度」改選「預期收入」——畫面立刻從「數幾筆」變成「算幾塊錢」。第三步，兩層分組：「分組依據」選「階段」，再疊第二層「銷售人員」——資料被切成兩維。第四步，切換圖形：右上長條、折線、圓餅各看一眼——長條看分佈、折線看趨勢、圓餅看占比。</a:t>
            </a:r>
          </a:p>
          <a:p>
            <a:r>
              <a:t>提醒：各位自己的庫資料量小，圖會比較單薄，這正常——重點是「路徑你會走」了。我用完成庫示範給大家看圖該長什麼樣。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S102｜三圖三問（★深講・2.5 分）</a:t>
            </a:r>
          </a:p>
          <a:p>
            <a:endParaRPr/>
          </a:p>
          <a:p>
            <a:r>
              <a:t>【每張圖先發問、再揭表】</a:t>
            </a:r>
          </a:p>
          <a:p>
            <a:r>
              <a:t>判讀，比操作更重要。三張圖，各回答一個管理問題，連判讀提示一起講。</a:t>
            </a:r>
          </a:p>
          <a:p>
            <a:r>
              <a:t>長條圖，設定「階段乘預期收入」——它回答什麼？……「錢卡在哪一站？」判讀提示：要配「停留天數」一起看——同樣一堆錢，是健康累積，還是塞住的瓶頸。圓餅圖，「銷售人員乘預期收入」——回答？……「業績是否過度集中一人？」提示：單人占比超過五成，就是「關鍵人風險」——這個人請假，這個月就垮。折線圖，「月份乘新增商機」——回答？……「開發動能是升還是降？」提示：連續兩期下滑，就是提早兩個月響起的警報——回扣剛剛的領先指標。</a:t>
            </a:r>
          </a:p>
          <a:p>
            <a:r>
              <a:t>★金句：報表素養的分水嶺就在這：看圖的人問「數字是多少」，管理的人問「所以我該做什麼」。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S103｜實作 5-2 樞紐分析表（★深講・4 分）</a:t>
            </a:r>
          </a:p>
          <a:p>
            <a:endParaRPr/>
          </a:p>
          <a:p>
            <a:r>
              <a:t>把各位最熟的 Excel 樞紐，搬進「活」的資料，四步。第一步，切樞紐：報表右上，視圖切換、「樞紐分析表」。第二步，設列與欄：列，選「階段」；欄，選「預期結束」的月份；值，「量度」選「預期收入」。一張階段乘月份的金額矩陣就出來了。</a:t>
            </a:r>
          </a:p>
          <a:p>
            <a:r>
              <a:t>第三步，往下鑽：點「展開全部」——或點任一格的加號——展開「銷售人員」，這就是傳說中的 drill-down，從總數鑽到明細。第四步，翻轉視角：「對調數軸」——一鍵把列和欄交換。最後核對右下角的「總計」，要和看板的一百六十萬一致——帳，永遠要對得起來。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S104｜下載 xlsx（◐快講・1.5 分）</a:t>
            </a:r>
          </a:p>
          <a:p>
            <a:endParaRPr/>
          </a:p>
          <a:p>
            <a:r>
              <a:t>樞紐分析表左上角，有「下載 xlsx」——把你現在這個列欄配置，原樣輸出成 Excel，三件事講清楚。</a:t>
            </a:r>
          </a:p>
          <a:p>
            <a:r>
              <a:t>第一，何時用哪個：線上的樞紐，是「此刻的真相」，開會、追蹤用；下載的檔案，是「定版快照」，呈報、歸檔用。第二，加工建議：Excel 內做格式美化、合併財務資料、貼進簡報——「分析在系統、美編在 Excel」，這樣分工最省事。第三，心態：各位的老習慣一點都不用戒——Excel 依然是好工具；差別只是，從今天起，它拿到的是一份「乾淨的活資料」，不是手工剪貼的死表。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S105｜實作 5-3 最愛（★深講・3 分）</a:t>
            </a:r>
          </a:p>
          <a:p>
            <a:endParaRPr/>
          </a:p>
          <a:p>
            <a:r>
              <a:t>把你剛剛調好的畫面，變成整個團隊的資產，三步。第一步，儲存檢視：調好篩選與分組後——搜尋列、「最愛」、「儲存目前搜尋」，命名「每週漏斗檢視」。第二步，設為預設：勾「預設篩選器」——以後一打開報表就是它。第三步，分享團隊：勾「分享」——全團隊看到同一個檢視，口徑統一從這裡開始。</a:t>
            </a:r>
          </a:p>
          <a:p>
            <a:r>
              <a:t>★金句：這一步的管理意義比看起來大：「分享的預設檢視」，定義了整個團隊每週「看世界的方式」。大家打開同一張圖、對著同一個口徑討論——這是主管最便宜的一次管理投資，成本三十秒。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S106｜實作 5-4 匯出與匯入（◐快講・2 分）</a:t>
            </a:r>
          </a:p>
          <a:p>
            <a:endParaRPr/>
          </a:p>
          <a:p>
            <a:r>
              <a:t>和 Excel 世界雙向通行，三步。第一步，匯出：清單視圖勾選商機、「動作」、「匯出」——挑欄位，階段、預期收入、成功率，還能存成匯出範本下次直接用。第二步，匯入記錄：清單視圖的「匯入記錄」——把 Excel 舊名單搬進來：先下載官方範本、把你的欄位對應好、上傳。</a:t>
            </a:r>
          </a:p>
          <a:p>
            <a:r>
              <a:t>【匯入以示範為主，不強制全員操作】</a:t>
            </a:r>
          </a:p>
          <a:p>
            <a:r>
              <a:t>第三步，匯入紀律：先拿十筆測試——檢查欄位對應和格式對不對——確認無誤，再分批全量匯入；幾千筆一次錯，收拾很痛。</a:t>
            </a:r>
          </a:p>
          <a:p>
            <a:r>
              <a:t>★金句：回公司的第一件工程，就是它：把 Excel 名單匯進來。資產搬了家，習慣才會跟著搬家。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S107｜綜合挑戰（★深講・15 分）</a:t>
            </a:r>
          </a:p>
          <a:p>
            <a:endParaRPr/>
          </a:p>
          <a:p>
            <a:r>
              <a:t>【宣讀規則、計時 15 分鐘；期間只巡場記錄卡點，不再示範】</a:t>
            </a:r>
          </a:p>
          <a:p>
            <a:r>
              <a:t>期末考時間，一百分。獨立完成六個任務，我唸一遍配分：任務一，建案，十五分——新增三筆商機：客戶金額自編，分放不同階段、不同結案月份。任務二，跟進，十五分——為其中兩筆安排活動；一筆用「完成，排期下一活動」處理。任務三，收尾，十五分——一筆標「成交」、一筆標「已損失」，用你自訂的原因。任務四，答題一，十五分——用報表回答：目前的「加權漏斗值」約是多少？任務五，答題二，十五分——用預測視圖回答：下個月預計成交金額多少？任務六，留資產，十五分——存一個自訂「最愛」、並「匯出」一份含階段、預期收入、成功率的 xlsx。獎勵題十分：把一筆商機標「已損失」、用篩選找回、再「還原」。</a:t>
            </a:r>
          </a:p>
          <a:p>
            <a:r>
              <a:t>規則：獨立完成，可以翻學員手冊和上機操作手冊；完成五題就過關，六題加獎勵題，就是今天的 MVP。計時開始。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S108｜挑戰講評（★深講・3 分）</a:t>
            </a:r>
          </a:p>
          <a:p>
            <a:endParaRPr/>
          </a:p>
          <a:p>
            <a:r>
              <a:t>【快評四題，宣布 MVP】</a:t>
            </a:r>
          </a:p>
          <a:p>
            <a:r>
              <a:t>對答案，講評表逐列看。任務四，加權漏斗值——參考解法：匯出各案的「預期收入乘成功率」加總；或用樞紐分析表輔助計算。常見失分：只報漏斗總額，忘了乘成功率。任務五，下月金額——參考解法：「報告」、「預測」，讀下個月欄頂合計，量度要是「預期收入」。常見失分：量度停在「計數」，把金額讀成了筆數。任務六，留資產——最愛儲存目前搜尋；清單、動作、匯出挑欄位。常見失分：匯出忘了勾「成功率」欄位。獎勵題——篩選「已損失」、開啟商機、「還原」。常見失分：在看板找半天——忘了損失單預設隱藏。</a:t>
            </a:r>
          </a:p>
          <a:p>
            <a:r>
              <a:t>★金句：答案的數值因為各自成功率不同而不同，數量級對了就算對——重點不是那個數字，是「你已經會自己從系統把答案挖出來」。來，今天的 MVP 是——恭喜！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S109｜導入三死因三關鍵（★深講・2.5 分）</a:t>
            </a:r>
          </a:p>
          <a:p>
            <a:endParaRPr/>
          </a:p>
          <a:p>
            <a:r>
              <a:t>最後十分鐘，回到管理者的正題：為什麼這麼多 CRM 導入會失敗？這不是 IT 專案，是變革管理。</a:t>
            </a:r>
          </a:p>
          <a:p>
            <a:r>
              <a:t>左邊三大死因：高層不用——老闆還是靠口頭問進度，系統淪為交作業；資料不進——第一線覺得輸入是負擔，不是幫助；KPI 不連動——獎金考核和系統數字無關，那誰理它。</a:t>
            </a:r>
          </a:p>
          <a:p>
            <a:r>
              <a:t>右邊三大關鍵，剛好一一對應：由上而下——主管「只看系統數字」開會，一週見效；流程先於系統——先講好階段與紀律，再開系統；漸進導入——先一個模組養習慣，再談擴充。</a:t>
            </a:r>
          </a:p>
          <a:p>
            <a:r>
              <a:t>★金句：一句話總結今天：工具，今天下午就開通了；要「導入」的，是行為——而行為，是管理者的工作，外包不掉。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S113｜下一步預覽：報價流（○參考・1.5 分）</a:t>
            </a:r>
          </a:p>
          <a:p>
            <a:endParaRPr/>
          </a:p>
          <a:p>
            <a:r>
              <a:t>成交之後呢？這一頁預覽「報價到收款的單一資料流」，三步。第一步，商機到報價單：在成交的商機上直接建立報價單——客戶、金額、窗口自動帶入；這屬於付費的銷售 App。第二步，報價、訂單、發票：客戶線上確認報價，即成訂單；出貨後轉發票——全程不重複輸入，同一份資料流。第三步是管理意義：「業務講的數字」和「財務記的數字」，第一次天生一致——對帳文化的終結，這就是「單一事實來源」。</a:t>
            </a:r>
          </a:p>
          <a:p>
            <a:r>
              <a:t>★金句：強調一次：這一頁是預告，不是作業——等 CRM 習慣養成、免費期驗證完，這是付費擴充的第一站。</a:t>
            </a:r>
          </a:p>
          <a:p>
            <a:r>
              <a:t>（趕時間版：成交一鍵變報價、訂單、發票——不重打、不對帳；等免費期驗證完再說。）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S114｜成本結構（★深講・2 分）</a:t>
            </a:r>
          </a:p>
          <a:p>
            <a:endParaRPr/>
          </a:p>
          <a:p>
            <a:r>
              <a:t>錢的事，講清楚。左邊，免費期——就是各位現在的狀態：只裝 CRM 一個 App，永久免費、人數不限；含官方雲端主機、每日備份、行動版；適合試點、養習慣、驗證流程。</a:t>
            </a:r>
          </a:p>
          <a:p>
            <a:r>
              <a:t>右邊，付費線畫在哪：安裝「第二個 App」起，全資料庫改成按「使用者人數」計費——Standard 方案大約每人每月二十四點九美金，這是二〇二六牌價、以官網為準；重點是「一價含所有 App」——裝十個模組和裝兩個，同一個價。</a:t>
            </a:r>
          </a:p>
          <a:p>
            <a:r>
              <a:t>決策框架帶走三步：免費驗證、用量證明、再付費擴充。</a:t>
            </a:r>
          </a:p>
          <a:p>
            <a:r>
              <a:t>★金句：換算給各位聽：五個人的團隊，全套 ERP 的月費，大約一頓部門聚餐的錢——貴不貴，取決於你有沒有先把「會用」這件事養出來。工具不貴，不會用才貴。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S115｜FAQ 基礎五題（◐快講・2 分）</a:t>
            </a:r>
          </a:p>
          <a:p>
            <a:endParaRPr/>
          </a:p>
          <a:p>
            <a:r>
              <a:t>【已在課中答過的快速帶過】</a:t>
            </a:r>
          </a:p>
          <a:p>
            <a:r>
              <a:t>學員最常問的五題，完整過一遍。第一題，免費會不會突然變收費？不會——只裝一個 App 就持續免費；是「你自己安裝第二個 App」才觸發付費，主導權在你。第二題，十五天試用到期會怎樣？只保留一個 App，就自動回到永久免費，資料原封不動；若裝了多個 App，就需要訂閱、或移除多的那些。第三題，資料放雲端安全嗎？Odoo Online 官方代管，含每日備份與傳輸加密；高敏感產業另依公司雲端政策評估。第四題，可以匯入舊客戶 Excel 嗎？可以——聯絡人與商機都支援 xlsx、csv 的「匯入記錄」，欄位可自行對應。第五題，中文支援到什麼程度？介面繁體中文完整——今天各位已經親自驗證五個小時了。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S116｜FAQ 進階五題（◐快講・2 分）</a:t>
            </a:r>
          </a:p>
          <a:p>
            <a:endParaRPr/>
          </a:p>
          <a:p>
            <a:r>
              <a:t>進階五題——多人、權限、客製、匯入、API。第一題，免費方案可以多人共用嗎？可以，人數不限：設定中邀請使用者——輸入對方電子郵件，對方收信啟用，就加入同一個資料庫。第二題，權限可以控管嗎？可以指定使用者的權限等級——一般使用者、管理員等；更細緻的權限規則屬進階題，導入時再依官方文件設計。第三題，可以客製欄位與畫面嗎？免費方案不含拖拉式客製工具；但階段、標籤、損失原因、活動類型這類「設定級」客製全部可做——課堂全部做過了。第四題，匯入量有沒有上限？實務建議：先十筆試匯驗證欄位對應，再分批全量；數千筆等級屬正常使用範圍。第五題，有 API 可以串接嗎？有——外部系統整合屬技術題，交給資訊人員依官方文件評估。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S120｜封底 Q&amp;A（★深講・至下課）</a:t>
            </a:r>
          </a:p>
          <a:p>
            <a:endParaRPr/>
          </a:p>
          <a:p>
            <a:r>
              <a:t>最後，開放時間，各位有任何問題——系統操作的、回公司導入的、選型評估的——都可以提出來。</a:t>
            </a:r>
          </a:p>
          <a:p>
            <a:r>
              <a:t>【Q&amp;A 結束後的收尾詞】</a:t>
            </a:r>
          </a:p>
          <a:p>
            <a:r>
              <a:t>……好，時間差不多了。最後一句話，也是今天第一句話的下集：買軟體，只買到最內層；外面兩層——理念與流程——要靠各位自己建。而從今天下午起，各位是「做過的人」，不再只是「聽過的人」。</a:t>
            </a:r>
          </a:p>
          <a:p>
            <a:r>
              <a:t>★金句：系統，是你的了——別讓它荒廢。下課，謝謝大家。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645920"/>
            <a:ext cx="5303520" cy="5303520"/>
          </a:xfrm>
          <a:prstGeom prst="ellipse">
            <a:avLst/>
          </a:prstGeom>
          <a:solidFill>
            <a:srgbClr val="0A3E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424160" y="3291840"/>
            <a:ext cx="3291840" cy="3291840"/>
          </a:xfrm>
          <a:prstGeom prst="ellipse">
            <a:avLst/>
          </a:prstGeom>
          <a:solidFill>
            <a:srgbClr val="0C47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-1371600" y="4937760"/>
            <a:ext cx="3840480" cy="3840480"/>
          </a:xfrm>
          <a:prstGeom prst="ellipse">
            <a:avLst/>
          </a:prstGeom>
          <a:solidFill>
            <a:srgbClr val="0A3E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85800" y="1170432"/>
            <a:ext cx="3108960" cy="420624"/>
          </a:xfrm>
          <a:prstGeom prst="roundRect">
            <a:avLst>
              <a:gd name="adj" fmla="val 34783"/>
            </a:avLst>
          </a:prstGeom>
          <a:solidFill>
            <a:srgbClr val="0D4650"/>
          </a:solidFill>
          <a:ln w="9525">
            <a:solidFill>
              <a:srgbClr val="15647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管理實務工作坊</a:t>
            </a:r>
            <a:endParaRPr lang="en-US" sz="230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2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</a:t>
            </a:r>
            <a:endParaRPr lang="en-US" sz="552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3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從客戶關係管理理論，到免費雲端系統的完整實戰</a:t>
            </a:r>
            <a:endParaRPr lang="en-US" sz="2530"/>
          </a:p>
        </p:txBody>
      </p:sp>
      <p:sp>
        <p:nvSpPr>
          <p:cNvPr id="12" name="Shape 10"/>
          <p:cNvSpPr/>
          <p:nvPr/>
        </p:nvSpPr>
        <p:spPr>
          <a:xfrm>
            <a:off x="685800" y="5394960"/>
            <a:ext cx="1078992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85800" y="5623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授課教師　</a:t>
            </a:r>
            <a:r>
              <a:rPr lang="en-US" sz="23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林土量　</a:t>
            </a:r>
            <a:r>
              <a:rPr lang="en-US" sz="230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國立嘉義大學</a:t>
            </a:r>
            <a:endParaRPr lang="en-US" sz="2300"/>
          </a:p>
        </p:txBody>
      </p:sp>
      <p:sp>
        <p:nvSpPr>
          <p:cNvPr id="14" name="Text 12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3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課程定位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 EMBA 要「親手」做一次 CRM？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決策者的盲點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 CRM 導入案由高階主管拍板，但拍板者往往「沒摸過系統」，只看過廠商簡報——採購與導入的判斷因此失真。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數位轉型第一課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是企業數位化最常見的起點：門檻低、能見度高、直接連結營收，是理解「系統 × 流程 × 人」的最佳教材。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3017520"/>
          </a:xfrm>
          <a:prstGeom prst="roundRect">
            <a:avLst>
              <a:gd name="adj" fmla="val 272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做過才會問對問題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評估報價、審預算、訂 KPI、驗收導入成效——這些管理動作，都需要「實際操作過」的體感做支撐。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研究機構長年追蹤的 CRM 導入失敗率約 30–70%——失敗的極少是技術，多數是「行為」。這門課要補的就是行為的體感。</a:t>
            </a:r>
            <a:endParaRPr lang="en-US" sz="149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案例背景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嘉禾茶業：一家典型台灣中小企業的銷售現場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公司輪廓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產品線：經典禮盒（$800）／木盒精裝（$1,500）／客製聯名款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客群三類：企業節慶採購、福委會團購、飯店通路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業務團隊 4 人＋主管 1 人；旺季為端午與年節前兩個月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現況：客戶名單在 Excel、往來紀錄在個人 LINE 與信箱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4297680"/>
          </a:xfrm>
          <a:prstGeom prst="roundRect">
            <a:avLst>
              <a:gd name="adj" fmla="val 2128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老闆睡不著的四個問題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「這一季到底會做多少？」——每次問業務，答案都是感覺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「上次答應台塑什麼條件？」——只有承辦業務記得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「為什麼輸給對手？」——沒有人統計過原因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「資深業務要退休了」——三十年客戶關係怎麼交接？</a:t>
            </a:r>
            <a:endParaRPr lang="en-US" sz="1438"/>
          </a:p>
        </p:txBody>
      </p:sp>
      <p:sp>
        <p:nvSpPr>
          <p:cNvPr id="13" name="Text 11"/>
          <p:cNvSpPr/>
          <p:nvPr/>
        </p:nvSpPr>
        <p:spPr>
          <a:xfrm>
            <a:off x="804672" y="55321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這四個問題，正好對應今天的四個下午時段——</a:t>
            </a:r>
            <a:r>
              <a:rPr lang="en-US" sz="1495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課程結束時，每一題都會有統化的答案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案例佈局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六家客戶登場：你手上的 160 萬商機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35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33351"/>
              </p:ext>
            </p:extLst>
          </p:nvPr>
        </p:nvGraphicFramePr>
        <p:xfrm>
          <a:off x="548640" y="1481328"/>
          <a:ext cx="11091672" cy="358444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93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商機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金額（NT$）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進度（起始階段）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劇情預告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台塑企業年節禮盒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台塑企業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400,000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新潛在客戶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第一筆示範商機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中鋼福委會中秋禮盒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中鋼公司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260,000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新潛在客戶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第一筆成交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晶華酒店房內茶包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晶華酒店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180,000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已評估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損失後用手機還原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台積電尾牙伴手禮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台積電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520,000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樣品試喝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金額最大，報表判讀主角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玉山銀行 VIP 禮盒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玉山銀行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150,000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完整跑單演練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誠品書店聯名禮盒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誠品書店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90,000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新潛在客戶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價格過高，成為損失樣本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76072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5"/>
          <p:cNvSpPr/>
          <p:nvPr/>
        </p:nvSpPr>
        <p:spPr>
          <a:xfrm>
            <a:off x="804672" y="57607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 6 筆、NT$1,600,000。第二節你會親手把它們輸入系統——金額照打，第五節全班報表才能對答案。</a:t>
            </a:r>
            <a:endParaRPr lang="en-US" sz="149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60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850" b="1">
                <a:solidFill>
                  <a:srgbClr val="0C47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185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554480" cy="402336"/>
          </a:xfrm>
          <a:prstGeom prst="roundRect">
            <a:avLst>
              <a:gd name="adj" fmla="val 36364"/>
            </a:avLst>
          </a:prstGeom>
          <a:solidFill>
            <a:srgbClr val="0D4650"/>
          </a:solidFill>
          <a:ln w="9525">
            <a:solidFill>
              <a:srgbClr val="15647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節</a:t>
            </a:r>
            <a:endParaRPr lang="en-US" sz="161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理論基礎</a:t>
            </a:r>
            <a:endParaRPr lang="en-US" sz="4600"/>
          </a:p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與雲端環境開通</a:t>
            </a:r>
            <a:endParaRPr lang="en-US" sz="460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先建立管理語言，再讓每個人擁有一套自己的免費雲端系統</a:t>
            </a:r>
            <a:endParaRPr lang="en-US" sz="184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1078992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85800" y="4983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b="1" err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00:00 – 00:55　　</a:t>
            </a:r>
            <a:r>
              <a:rPr lang="en-US" sz="1610" b="1" err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本節內容</a:t>
            </a: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定義與誤解・生命週期・CLV・銷售漏斗・免費方案解析・註冊與中文化實作</a:t>
            </a:r>
            <a:endParaRPr lang="en-US" sz="161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3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①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 CRM？先講策略，再談軟體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4FAFA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5910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經營理念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195681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以客戶的「長期價值」為中心配置資源——不是把每個客戶都當一次性交易。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1051560" y="2715768"/>
            <a:ext cx="9509760" cy="1051560"/>
          </a:xfrm>
          <a:prstGeom prst="roundRect">
            <a:avLst>
              <a:gd name="adj" fmla="val 8696"/>
            </a:avLst>
          </a:prstGeom>
          <a:solidFill>
            <a:srgbClr val="F4FAFA"/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325880" y="28254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流程與方法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1325880" y="3191256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err="1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如何獲取、發展、留住客戶：資格判斷、階段推進、跟進節奏</a:t>
            </a: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成交損失</a:t>
            </a: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1554480" y="3950208"/>
            <a:ext cx="8503920" cy="1051560"/>
          </a:xfrm>
          <a:prstGeom prst="roundRect">
            <a:avLst>
              <a:gd name="adj" fmla="val 8696"/>
            </a:avLst>
          </a:prstGeom>
          <a:solidFill>
            <a:srgbClr val="F4FAFA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828800" y="40599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軟體工具</a:t>
            </a:r>
            <a:endParaRPr lang="en-US" sz="1782"/>
          </a:p>
        </p:txBody>
      </p:sp>
      <p:sp>
        <p:nvSpPr>
          <p:cNvPr id="14" name="Text 12"/>
          <p:cNvSpPr/>
          <p:nvPr/>
        </p:nvSpPr>
        <p:spPr>
          <a:xfrm>
            <a:off x="1828800" y="442569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把前兩層「做得出來、量得出來」的載體——今天要開通的 Odoo 只是這一層。</a:t>
            </a:r>
            <a:endParaRPr lang="en-US" sz="1438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04672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買軟體只買到最內層；外面兩層——理念與流程——</a:t>
            </a:r>
            <a:r>
              <a:rPr lang="en-US" sz="1495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要靠管理者自己建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9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②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先拆掉三個常見誤解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3063240"/>
          </a:xfrm>
          <a:prstGeom prst="roundRect">
            <a:avLst>
              <a:gd name="adj" fmla="val 268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誤解一：CRM＝一套軟體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軟體只是載體。沒有流程與紀律，換十套系統結果一樣——「工具治不了行為」。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3063240"/>
          </a:xfrm>
          <a:prstGeom prst="roundRect">
            <a:avLst>
              <a:gd name="adj" fmla="val 268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誤解二：CRM 是大企業的事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免費雲端方案讓 5 人團隊也能當天上線；中小企業反而是資料資產「全在老臣腦袋」風險最高的一群。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3063240"/>
          </a:xfrm>
          <a:prstGeom prst="roundRect">
            <a:avLst>
              <a:gd name="adj" fmla="val 268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誤解三：CRM 是業務部門的事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客戶資料是「全公司的資產負債表」：行銷靠它分眾、客服靠它接手、財務靠它預測——主管靠它開會。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3949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視角：CRM 案的成敗責任在「總經理室」，不在資訊室——這也是各位坐在這裡的理由。</a:t>
            </a:r>
            <a:endParaRPr lang="en-US" sz="149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③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</a:t>
            </a:r>
            <a:r>
              <a:rPr lang="en-US" sz="3335" b="1" err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四十年演進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2368296"/>
            <a:ext cx="11064240" cy="0"/>
          </a:xfrm>
          <a:prstGeom prst="line">
            <a:avLst/>
          </a:prstGeom>
          <a:noFill/>
          <a:ln w="254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449324" y="224028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891540" y="1709928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1980s</a:t>
            </a:r>
            <a:endParaRPr lang="en-US" sz="138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76656" y="289864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名片盒＋通訊錄</a:t>
            </a:r>
            <a:endParaRPr lang="en-US" sz="1495"/>
          </a:p>
        </p:txBody>
      </p:sp>
      <p:sp>
        <p:nvSpPr>
          <p:cNvPr id="11" name="Text 9"/>
          <p:cNvSpPr/>
          <p:nvPr/>
        </p:nvSpPr>
        <p:spPr>
          <a:xfrm>
            <a:off x="676656" y="3630168"/>
            <a:ext cx="180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Rolodex、DM 名單管理</a:t>
            </a:r>
            <a:endParaRPr lang="en-US" sz="1322"/>
          </a:p>
        </p:txBody>
      </p:sp>
      <p:sp>
        <p:nvSpPr>
          <p:cNvPr id="12" name="Text 10"/>
          <p:cNvSpPr/>
          <p:nvPr/>
        </p:nvSpPr>
        <p:spPr>
          <a:xfrm>
            <a:off x="3707892" y="224028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3150108" y="1709928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1990s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2807208" y="2761488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935224" y="289864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SFA 銷售自動化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2935224" y="3630168"/>
            <a:ext cx="180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單機軟體，記錄拜訪與訂單</a:t>
            </a:r>
            <a:endParaRPr lang="en-US" sz="1322"/>
          </a:p>
        </p:txBody>
      </p:sp>
      <p:sp>
        <p:nvSpPr>
          <p:cNvPr id="17" name="Text 15"/>
          <p:cNvSpPr/>
          <p:nvPr/>
        </p:nvSpPr>
        <p:spPr>
          <a:xfrm>
            <a:off x="5966460" y="2240280"/>
            <a:ext cx="256032" cy="256032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5408676" y="1709928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2000s</a:t>
            </a:r>
            <a:endParaRPr lang="en-US" sz="1380"/>
          </a:p>
        </p:txBody>
      </p:sp>
      <p:sp>
        <p:nvSpPr>
          <p:cNvPr id="19" name="Shape 17"/>
          <p:cNvSpPr/>
          <p:nvPr/>
        </p:nvSpPr>
        <p:spPr>
          <a:xfrm>
            <a:off x="5065776" y="2761488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5193792" y="289864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套裝 CRM 上雲</a:t>
            </a:r>
            <a:endParaRPr lang="en-US" sz="1495"/>
          </a:p>
        </p:txBody>
      </p:sp>
      <p:sp>
        <p:nvSpPr>
          <p:cNvPr id="21" name="Text 19"/>
          <p:cNvSpPr/>
          <p:nvPr/>
        </p:nvSpPr>
        <p:spPr>
          <a:xfrm>
            <a:off x="5193792" y="3630168"/>
            <a:ext cx="180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SaaS 訂閱制興起，免建機房</a:t>
            </a:r>
            <a:endParaRPr lang="en-US" sz="1322"/>
          </a:p>
        </p:txBody>
      </p:sp>
      <p:sp>
        <p:nvSpPr>
          <p:cNvPr id="22" name="Text 20"/>
          <p:cNvSpPr/>
          <p:nvPr/>
        </p:nvSpPr>
        <p:spPr>
          <a:xfrm>
            <a:off x="8225028" y="224028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7667244" y="1709928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2010s</a:t>
            </a:r>
            <a:endParaRPr lang="en-US" sz="1380"/>
          </a:p>
        </p:txBody>
      </p:sp>
      <p:sp>
        <p:nvSpPr>
          <p:cNvPr id="24" name="Shape 22"/>
          <p:cNvSpPr/>
          <p:nvPr/>
        </p:nvSpPr>
        <p:spPr>
          <a:xfrm>
            <a:off x="7324344" y="2761488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452360" y="289864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行動＋社群整合</a:t>
            </a:r>
            <a:endParaRPr lang="en-US" sz="1495"/>
          </a:p>
        </p:txBody>
      </p:sp>
      <p:sp>
        <p:nvSpPr>
          <p:cNvPr id="26" name="Text 24"/>
          <p:cNvSpPr/>
          <p:nvPr/>
        </p:nvSpPr>
        <p:spPr>
          <a:xfrm>
            <a:off x="7452360" y="3630168"/>
            <a:ext cx="180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手機即時輸入、全通路互動</a:t>
            </a:r>
            <a:endParaRPr lang="en-US" sz="1322"/>
          </a:p>
        </p:txBody>
      </p:sp>
      <p:sp>
        <p:nvSpPr>
          <p:cNvPr id="27" name="Text 25"/>
          <p:cNvSpPr/>
          <p:nvPr/>
        </p:nvSpPr>
        <p:spPr>
          <a:xfrm>
            <a:off x="10483596" y="2240280"/>
            <a:ext cx="256032" cy="256032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925812" y="1709928"/>
            <a:ext cx="1371600" cy="365760"/>
          </a:xfrm>
          <a:prstGeom prst="roundRect">
            <a:avLst>
              <a:gd name="adj" fmla="val 40000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2020s</a:t>
            </a:r>
            <a:endParaRPr lang="en-US" sz="1380"/>
          </a:p>
        </p:txBody>
      </p:sp>
      <p:sp>
        <p:nvSpPr>
          <p:cNvPr id="29" name="Shape 27"/>
          <p:cNvSpPr/>
          <p:nvPr/>
        </p:nvSpPr>
        <p:spPr>
          <a:xfrm>
            <a:off x="9582912" y="2761488"/>
            <a:ext cx="2057400" cy="22860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9710928" y="2898648"/>
            <a:ext cx="180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＋ 開源普及</a:t>
            </a:r>
            <a:endParaRPr lang="en-US" sz="1495"/>
          </a:p>
        </p:txBody>
      </p:sp>
      <p:sp>
        <p:nvSpPr>
          <p:cNvPr id="31" name="Text 29"/>
          <p:cNvSpPr/>
          <p:nvPr/>
        </p:nvSpPr>
        <p:spPr>
          <a:xfrm>
            <a:off x="9710928" y="3630168"/>
            <a:ext cx="18013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預測評分、生成式 AI；免費方案降門檻</a:t>
            </a:r>
            <a:endParaRPr lang="en-US" sz="1322"/>
          </a:p>
        </p:txBody>
      </p:sp>
      <p:sp>
        <p:nvSpPr>
          <p:cNvPr id="32" name="Shape 30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804672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雲端訂閱＋開源生態，把 CRM </a:t>
            </a:r>
            <a:r>
              <a:rPr lang="en-US" sz="1495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從「百萬級專案」變成「能免費開通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」——這段歷史正是本課成立的原因。</a:t>
            </a:r>
            <a:endParaRPr lang="en-US" sz="149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④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Excel 到 CRM：八個該升級的訊號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版本失控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「客戶名單_final_v7_真的最終版.xlsx」——沒有人確定哪份是最新。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3380994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00450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4149090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交接黑洞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3618738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業務離職，往來紀錄跟著 LINE 與私人信箱一起離開。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6213348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32804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6981444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重複跟進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6451092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兩個業務同週拜訪同一家客戶，彼此不知道。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9045702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265158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9813798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報表靠手工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9283446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每週業績會前，有人花半天剪貼樞紐與圖表。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68096" y="36576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25"/>
          </a:p>
        </p:txBody>
      </p:sp>
      <p:sp>
        <p:nvSpPr>
          <p:cNvPr id="24" name="Text 22"/>
          <p:cNvSpPr/>
          <p:nvPr/>
        </p:nvSpPr>
        <p:spPr>
          <a:xfrm>
            <a:off x="1316736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承諾找不到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786384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客戶說「上次你們答應過…」，全公司翻不出紀錄。</a:t>
            </a:r>
            <a:endParaRPr lang="en-US" sz="1380"/>
          </a:p>
        </p:txBody>
      </p:sp>
      <p:sp>
        <p:nvSpPr>
          <p:cNvPr id="26" name="Shape 24"/>
          <p:cNvSpPr/>
          <p:nvPr/>
        </p:nvSpPr>
        <p:spPr>
          <a:xfrm>
            <a:off x="3380994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600450" y="365760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25"/>
          </a:p>
        </p:txBody>
      </p:sp>
      <p:sp>
        <p:nvSpPr>
          <p:cNvPr id="28" name="Text 26"/>
          <p:cNvSpPr/>
          <p:nvPr/>
        </p:nvSpPr>
        <p:spPr>
          <a:xfrm>
            <a:off x="4149090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預測靠感覺</a:t>
            </a:r>
            <a:endParaRPr lang="en-US" sz="1667"/>
          </a:p>
        </p:txBody>
      </p:sp>
      <p:sp>
        <p:nvSpPr>
          <p:cNvPr id="29" name="Text 27"/>
          <p:cNvSpPr/>
          <p:nvPr/>
        </p:nvSpPr>
        <p:spPr>
          <a:xfrm>
            <a:off x="3618738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「這季大概可以吧」——沒人說得出依據。</a:t>
            </a:r>
            <a:endParaRPr lang="en-US" sz="1380"/>
          </a:p>
        </p:txBody>
      </p:sp>
      <p:sp>
        <p:nvSpPr>
          <p:cNvPr id="30" name="Shape 28"/>
          <p:cNvSpPr/>
          <p:nvPr/>
        </p:nvSpPr>
        <p:spPr>
          <a:xfrm>
            <a:off x="6213348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432804" y="36576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725"/>
          </a:p>
        </p:txBody>
      </p:sp>
      <p:sp>
        <p:nvSpPr>
          <p:cNvPr id="32" name="Text 30"/>
          <p:cNvSpPr/>
          <p:nvPr/>
        </p:nvSpPr>
        <p:spPr>
          <a:xfrm>
            <a:off x="6981444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名單不同步</a:t>
            </a:r>
            <a:endParaRPr lang="en-US" sz="1667"/>
          </a:p>
        </p:txBody>
      </p:sp>
      <p:sp>
        <p:nvSpPr>
          <p:cNvPr id="33" name="Text 31"/>
          <p:cNvSpPr/>
          <p:nvPr/>
        </p:nvSpPr>
        <p:spPr>
          <a:xfrm>
            <a:off x="6451092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行銷、業務、客服各有一份客戶檔，彼此打架。</a:t>
            </a:r>
            <a:endParaRPr lang="en-US" sz="1380"/>
          </a:p>
        </p:txBody>
      </p:sp>
      <p:sp>
        <p:nvSpPr>
          <p:cNvPr id="34" name="Shape 32"/>
          <p:cNvSpPr/>
          <p:nvPr/>
        </p:nvSpPr>
        <p:spPr>
          <a:xfrm>
            <a:off x="9045702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9265158" y="36576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725"/>
          </a:p>
        </p:txBody>
      </p:sp>
      <p:sp>
        <p:nvSpPr>
          <p:cNvPr id="36" name="Text 34"/>
          <p:cNvSpPr/>
          <p:nvPr/>
        </p:nvSpPr>
        <p:spPr>
          <a:xfrm>
            <a:off x="9813798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跟丟商機</a:t>
            </a:r>
            <a:endParaRPr lang="en-US" sz="1667"/>
          </a:p>
        </p:txBody>
      </p:sp>
      <p:sp>
        <p:nvSpPr>
          <p:cNvPr id="37" name="Text 35"/>
          <p:cNvSpPr/>
          <p:nvPr/>
        </p:nvSpPr>
        <p:spPr>
          <a:xfrm>
            <a:off x="9283446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報價寄出後就沒下文，也沒有人負責追。</a:t>
            </a:r>
            <a:endParaRPr lang="en-US" sz="1380"/>
          </a:p>
        </p:txBody>
      </p:sp>
      <p:sp>
        <p:nvSpPr>
          <p:cNvPr id="38" name="Text 36"/>
          <p:cNvSpPr/>
          <p:nvPr/>
        </p:nvSpPr>
        <p:spPr>
          <a:xfrm>
            <a:off x="566928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中三項以上＝該升級了。Excel 沒有錯，錯的是拿「個人工具」管「組織資產」。</a:t>
            </a:r>
            <a:endParaRPr lang="en-US" sz="1438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⑤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客戶生命週期：四個階段，四種管理重點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78608" cy="1920240"/>
          </a:xfrm>
          <a:prstGeom prst="roundRect">
            <a:avLst>
              <a:gd name="adj" fmla="val 4762"/>
            </a:avLst>
          </a:prstGeom>
          <a:solidFill>
            <a:srgbClr val="F4FAFA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43584" y="16642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獲取</a:t>
            </a:r>
            <a:endParaRPr lang="en-US" sz="1840"/>
          </a:p>
        </p:txBody>
      </p:sp>
      <p:sp>
        <p:nvSpPr>
          <p:cNvPr id="9" name="Text 7"/>
          <p:cNvSpPr/>
          <p:nvPr/>
        </p:nvSpPr>
        <p:spPr>
          <a:xfrm>
            <a:off x="749808" y="2231136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讓對的人找到你</a:t>
            </a:r>
            <a:endParaRPr lang="en-US" sz="1322"/>
          </a:p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（行銷、名單、開發）</a:t>
            </a:r>
            <a:endParaRPr lang="en-US" sz="1322"/>
          </a:p>
        </p:txBody>
      </p:sp>
      <p:sp>
        <p:nvSpPr>
          <p:cNvPr id="10" name="Text 8"/>
          <p:cNvSpPr/>
          <p:nvPr/>
        </p:nvSpPr>
        <p:spPr>
          <a:xfrm>
            <a:off x="3108960" y="22128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70"/>
          </a:p>
        </p:txBody>
      </p:sp>
      <p:sp>
        <p:nvSpPr>
          <p:cNvPr id="11" name="Shape 9"/>
          <p:cNvSpPr/>
          <p:nvPr/>
        </p:nvSpPr>
        <p:spPr>
          <a:xfrm>
            <a:off x="3383280" y="1481328"/>
            <a:ext cx="2578608" cy="1920240"/>
          </a:xfrm>
          <a:prstGeom prst="roundRect">
            <a:avLst>
              <a:gd name="adj" fmla="val 4762"/>
            </a:avLst>
          </a:prstGeom>
          <a:solidFill>
            <a:srgbClr val="F4FAFA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566160" y="16642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4078224" y="16642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發展</a:t>
            </a:r>
            <a:endParaRPr lang="en-US" sz="1840"/>
          </a:p>
        </p:txBody>
      </p:sp>
      <p:sp>
        <p:nvSpPr>
          <p:cNvPr id="14" name="Text 12"/>
          <p:cNvSpPr/>
          <p:nvPr/>
        </p:nvSpPr>
        <p:spPr>
          <a:xfrm>
            <a:off x="3584448" y="2231136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擴大往來深度</a:t>
            </a:r>
            <a:endParaRPr lang="en-US" sz="1322"/>
          </a:p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（加購、升級、交叉銷售）</a:t>
            </a:r>
            <a:endParaRPr lang="en-US" sz="1322"/>
          </a:p>
        </p:txBody>
      </p:sp>
      <p:sp>
        <p:nvSpPr>
          <p:cNvPr id="15" name="Text 13"/>
          <p:cNvSpPr/>
          <p:nvPr/>
        </p:nvSpPr>
        <p:spPr>
          <a:xfrm>
            <a:off x="5943600" y="22128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70"/>
          </a:p>
        </p:txBody>
      </p:sp>
      <p:sp>
        <p:nvSpPr>
          <p:cNvPr id="16" name="Shape 14"/>
          <p:cNvSpPr/>
          <p:nvPr/>
        </p:nvSpPr>
        <p:spPr>
          <a:xfrm>
            <a:off x="6217920" y="1481328"/>
            <a:ext cx="2578608" cy="1920240"/>
          </a:xfrm>
          <a:prstGeom prst="roundRect">
            <a:avLst>
              <a:gd name="adj" fmla="val 4762"/>
            </a:avLst>
          </a:prstGeom>
          <a:solidFill>
            <a:srgbClr val="F4FAFA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400800" y="16642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6912864" y="16642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</a:t>
            </a:r>
            <a:endParaRPr lang="en-US" sz="1840"/>
          </a:p>
        </p:txBody>
      </p:sp>
      <p:sp>
        <p:nvSpPr>
          <p:cNvPr id="19" name="Text 17"/>
          <p:cNvSpPr/>
          <p:nvPr/>
        </p:nvSpPr>
        <p:spPr>
          <a:xfrm>
            <a:off x="6419088" y="2231136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維持關係與滿意</a:t>
            </a:r>
            <a:endParaRPr lang="en-US" sz="1322"/>
          </a:p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（服務、續約、關懷）</a:t>
            </a:r>
            <a:endParaRPr lang="en-US" sz="1322"/>
          </a:p>
        </p:txBody>
      </p:sp>
      <p:sp>
        <p:nvSpPr>
          <p:cNvPr id="20" name="Text 18"/>
          <p:cNvSpPr/>
          <p:nvPr/>
        </p:nvSpPr>
        <p:spPr>
          <a:xfrm>
            <a:off x="8778240" y="2212848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070"/>
          </a:p>
        </p:txBody>
      </p:sp>
      <p:sp>
        <p:nvSpPr>
          <p:cNvPr id="21" name="Shape 19"/>
          <p:cNvSpPr/>
          <p:nvPr/>
        </p:nvSpPr>
        <p:spPr>
          <a:xfrm>
            <a:off x="9052560" y="1481328"/>
            <a:ext cx="2578608" cy="1920240"/>
          </a:xfrm>
          <a:prstGeom prst="roundRect">
            <a:avLst>
              <a:gd name="adj" fmla="val 4762"/>
            </a:avLst>
          </a:prstGeom>
          <a:solidFill>
            <a:srgbClr val="F4FAFA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9235440" y="166420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9747504" y="166420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流失挽回</a:t>
            </a:r>
            <a:endParaRPr lang="en-US" sz="1840"/>
          </a:p>
        </p:txBody>
      </p:sp>
      <p:sp>
        <p:nvSpPr>
          <p:cNvPr id="24" name="Text 22"/>
          <p:cNvSpPr/>
          <p:nvPr/>
        </p:nvSpPr>
        <p:spPr>
          <a:xfrm>
            <a:off x="9253728" y="2231136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找回沉睡客戶</a:t>
            </a:r>
            <a:endParaRPr lang="en-US" sz="1322"/>
          </a:p>
          <a:p>
            <a:pPr marL="0" indent="0">
              <a:buNone/>
            </a:pPr>
            <a:r>
              <a:rPr lang="en-US" sz="1322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（喚醒、挽回方案）</a:t>
            </a:r>
            <a:endParaRPr lang="en-US" sz="1322"/>
          </a:p>
        </p:txBody>
      </p:sp>
      <p:sp>
        <p:nvSpPr>
          <p:cNvPr id="25" name="Shape 23"/>
          <p:cNvSpPr/>
          <p:nvPr/>
        </p:nvSpPr>
        <p:spPr>
          <a:xfrm>
            <a:off x="548640" y="3721608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04672" y="390448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兩個經典數字（管理涵義：留存的槓桿最大）</a:t>
            </a:r>
            <a:endParaRPr lang="en-US" sz="1782"/>
          </a:p>
        </p:txBody>
      </p:sp>
      <p:sp>
        <p:nvSpPr>
          <p:cNvPr id="27" name="Text 25"/>
          <p:cNvSpPr/>
          <p:nvPr/>
        </p:nvSpPr>
        <p:spPr>
          <a:xfrm>
            <a:off x="822960" y="4343400"/>
            <a:ext cx="10561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獲取一位新客戶的成本 ≈ 留住一位舊客戶的 5 倍（行銷領域長年引用的經驗值）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貝恩（Bain）與哈佛的經典研究：客戶留存率每提升 5%，獲利可提升 25%–95%</a:t>
            </a:r>
            <a:endParaRPr lang="en-US" sz="1438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29" name="Text 27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3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⑥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每個階段都有可量測的指標——CRM 就是量測的儀器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35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007407"/>
              </p:ext>
            </p:extLst>
          </p:nvPr>
        </p:nvGraphicFramePr>
        <p:xfrm>
          <a:off x="548640" y="1481328"/>
          <a:ext cx="11091672" cy="3291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9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生命週期階段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核心指標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指標怎麼算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系統對應（今天會做）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獲取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獲客成本 CAC・轉換率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行銷業務費用 ÷ 新客數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潛在商機來源、漏斗分析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發展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客單價・交叉銷售率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營收 ÷ 訂單數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商機金額、標籤分析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留存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留存率・回購率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期末仍活躍客戶 ÷ 期初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活動紀錄、往來歷程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流失挽回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流失率・挽回率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流失數 ÷ 客戶總數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已損失商機＋損失原因統計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沒有系統化紀錄，這張表每一格都只能用「猜」的——量測是管理的前提，紀錄是量測的前提。</a:t>
            </a:r>
            <a:endParaRPr lang="en-US" sz="149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⑦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客戶終身價值 CLV：一位客戶到底值多少錢？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E3A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68680" y="148132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8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CLV ≈ </a:t>
            </a:r>
            <a:r>
              <a:rPr lang="en-US" sz="218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平均客單價 × 年購買次數 × 平均維繫年數 × 毛利率</a:t>
            </a:r>
            <a:r>
              <a:rPr lang="en-US" sz="138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（簡化式）</a:t>
            </a:r>
            <a:endParaRPr lang="en-US" sz="2185"/>
          </a:p>
        </p:txBody>
      </p:sp>
      <p:sp>
        <p:nvSpPr>
          <p:cNvPr id="8" name="Shape 6"/>
          <p:cNvSpPr/>
          <p:nvPr/>
        </p:nvSpPr>
        <p:spPr>
          <a:xfrm>
            <a:off x="548640" y="2761488"/>
            <a:ext cx="5623560" cy="3200400"/>
          </a:xfrm>
          <a:prstGeom prst="roundRect">
            <a:avLst>
              <a:gd name="adj" fmla="val 285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04672" y="2944368"/>
            <a:ext cx="5111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案例試算：嘉禾茶業的企業客戶</a:t>
            </a:r>
            <a:endParaRPr lang="en-US" sz="1782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509320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每次採購約 NT$120,000（150 組禮盒）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每年採購 2 次（端午＋年節）；平均往來 4 年，毛利率 45%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CLV ≈ 12 萬 × 2 × 4 × 45% ≈ NT$ 43.2 萬</a:t>
            </a:r>
            <a:endParaRPr lang="en-US" sz="1438"/>
          </a:p>
        </p:txBody>
      </p:sp>
      <p:sp>
        <p:nvSpPr>
          <p:cNvPr id="11" name="Shape 9"/>
          <p:cNvSpPr/>
          <p:nvPr/>
        </p:nvSpPr>
        <p:spPr>
          <a:xfrm>
            <a:off x="6400800" y="2761488"/>
            <a:ext cx="5239512" cy="3200400"/>
          </a:xfrm>
          <a:prstGeom prst="roundRect">
            <a:avLst>
              <a:gd name="adj" fmla="val 2857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656832" y="2944368"/>
            <a:ext cx="4727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三個管理決策直接用得到</a:t>
            </a:r>
            <a:endParaRPr lang="en-US" sz="1782"/>
          </a:p>
        </p:txBody>
      </p:sp>
      <p:sp>
        <p:nvSpPr>
          <p:cNvPr id="13" name="Text 11"/>
          <p:cNvSpPr/>
          <p:nvPr/>
        </p:nvSpPr>
        <p:spPr>
          <a:xfrm>
            <a:off x="6675120" y="338328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客戶分級：A／B／C 級服務資源怎麼配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獲客成本上限：經驗法則 CAC ＜ CLV ÷ 3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該不該挽回：挽回成本 vs. 剩餘生命週期價值</a:t>
            </a:r>
            <a:endParaRPr lang="en-US" sz="1438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11091672" cy="512064"/>
          </a:xfrm>
          <a:prstGeom prst="roundRect">
            <a:avLst>
              <a:gd name="adj" fmla="val 17857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04672" y="576072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CRM 的交易紀錄，CLV 只能用猜的——系統是把這條公式「算得出來」的前提。</a:t>
            </a:r>
            <a:endParaRPr lang="en-US" sz="149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⑧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CLV </a:t>
            </a:r>
            <a:r>
              <a:rPr lang="en-US" sz="3335" b="1" err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進階：從粗算到能</a:t>
            </a:r>
            <a:r>
              <a:rPr lang="zh-TW" alt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精算</a:t>
            </a:r>
            <a:r>
              <a:rPr lang="en-US" sz="3335" b="1" err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的版本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20440"/>
          </a:xfrm>
          <a:prstGeom prst="roundRect">
            <a:avLst>
              <a:gd name="adj" fmla="val 259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嚴謹版要多考慮什麼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折現：未來現金流按資金成本折現（年期愈長影響愈大）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貢獻邊際：用「毛利－服務成本」而非營收計算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留存曲線：客戶不是等速流失，前兩年最陡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20440"/>
          </a:xfrm>
          <a:prstGeom prst="roundRect">
            <a:avLst>
              <a:gd name="adj" fmla="val 2597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三個常見誤區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用「平均值」掩蓋分布：20% 客戶常貢獻 80% CLV，分級比平均重要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CLV 當靜態數字：它應隨每季新資料滾動更新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只算不用：CLV 的價值在「改變資源配置」，不在報告好看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帶走的版本：粗算版今天就能做（本課），嚴謹版等系統累積一年交易資料後自然升級。</a:t>
            </a:r>
            <a:endParaRPr lang="en-US" sz="149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⑨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銷售漏斗與漏斗數學：把業績變成可計算的事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7498080" cy="731520"/>
          </a:xfrm>
          <a:prstGeom prst="roundRect">
            <a:avLst>
              <a:gd name="adj" fmla="val 10000"/>
            </a:avLst>
          </a:prstGeom>
          <a:solidFill>
            <a:srgbClr val="0E3A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潛在商機　100</a:t>
            </a:r>
            <a:endParaRPr lang="en-US" sz="1725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6035040" cy="73152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合格商機　40</a:t>
            </a:r>
            <a:endParaRPr lang="en-US" sz="1725"/>
          </a:p>
        </p:txBody>
      </p:sp>
      <p:sp>
        <p:nvSpPr>
          <p:cNvPr id="10" name="Text 8"/>
          <p:cNvSpPr/>
          <p:nvPr/>
        </p:nvSpPr>
        <p:spPr>
          <a:xfrm>
            <a:off x="822960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 40%</a:t>
            </a:r>
            <a:endParaRPr lang="en-US" sz="1380"/>
          </a:p>
        </p:txBody>
      </p:sp>
      <p:sp>
        <p:nvSpPr>
          <p:cNvPr id="11" name="Shape 9"/>
          <p:cNvSpPr/>
          <p:nvPr/>
        </p:nvSpPr>
        <p:spPr>
          <a:xfrm>
            <a:off x="2011680" y="3273552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011680" y="327355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　20</a:t>
            </a:r>
            <a:endParaRPr lang="en-US" sz="1725"/>
          </a:p>
        </p:txBody>
      </p:sp>
      <p:sp>
        <p:nvSpPr>
          <p:cNvPr id="13" name="Text 11"/>
          <p:cNvSpPr/>
          <p:nvPr/>
        </p:nvSpPr>
        <p:spPr>
          <a:xfrm>
            <a:off x="8229600" y="341071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 50%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2377440" y="4169664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377440" y="416966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議價　12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229600" y="4306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 60%</a:t>
            </a:r>
            <a:endParaRPr lang="en-US" sz="1380"/>
          </a:p>
        </p:txBody>
      </p:sp>
      <p:sp>
        <p:nvSpPr>
          <p:cNvPr id="17" name="Shape 15"/>
          <p:cNvSpPr/>
          <p:nvPr/>
        </p:nvSpPr>
        <p:spPr>
          <a:xfrm>
            <a:off x="2651760" y="5065776"/>
            <a:ext cx="3474720" cy="73152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651760" y="506577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　8</a:t>
            </a:r>
            <a:endParaRPr lang="en-US" sz="1725"/>
          </a:p>
        </p:txBody>
      </p:sp>
      <p:sp>
        <p:nvSpPr>
          <p:cNvPr id="19" name="Text 17"/>
          <p:cNvSpPr/>
          <p:nvPr/>
        </p:nvSpPr>
        <p:spPr>
          <a:xfrm>
            <a:off x="8229600" y="52029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 67%</a:t>
            </a:r>
            <a:endParaRPr lang="en-US" sz="1380"/>
          </a:p>
        </p:txBody>
      </p:sp>
      <p:sp>
        <p:nvSpPr>
          <p:cNvPr id="20" name="Shape 18"/>
          <p:cNvSpPr/>
          <p:nvPr/>
        </p:nvSpPr>
        <p:spPr>
          <a:xfrm>
            <a:off x="9144000" y="1481328"/>
            <a:ext cx="2496312" cy="4343400"/>
          </a:xfrm>
          <a:prstGeom prst="roundRect">
            <a:avLst>
              <a:gd name="adj" fmla="val 3663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400032" y="1664208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漏斗數學</a:t>
            </a:r>
            <a:endParaRPr lang="en-US" sz="1782"/>
          </a:p>
        </p:txBody>
      </p:sp>
      <p:sp>
        <p:nvSpPr>
          <p:cNvPr id="22" name="Text 20"/>
          <p:cNvSpPr/>
          <p:nvPr/>
        </p:nvSpPr>
        <p:spPr>
          <a:xfrm>
            <a:off x="9418320" y="2103120"/>
            <a:ext cx="1965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想成交 8 案 → 依轉換率回推需 100 條潛在商機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覆蓋率法則：漏斗總金額 ≥ 目標的 3–4 倍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每一階的轉換率都是可管理的槓桿</a:t>
            </a:r>
            <a:endParaRPr lang="en-US" sz="1438"/>
          </a:p>
        </p:txBody>
      </p:sp>
      <p:sp>
        <p:nvSpPr>
          <p:cNvPr id="23" name="Shape 21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804672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的核心價值＝把漏斗「量化、可視、可管理」。</a:t>
            </a:r>
            <a:r>
              <a:rPr lang="en-US" sz="1495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</a:t>
            </a:r>
            <a:r>
              <a:rPr lang="zh-TW" alt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，我們就在 Odoo 裡操作這個漏斗。</a:t>
            </a:r>
            <a:endParaRPr lang="en-US" sz="149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⑩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漏斗診斷：同樣的結果，三種完全不同的病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35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1250652"/>
              </p:ext>
            </p:extLst>
          </p:nvPr>
        </p:nvGraphicFramePr>
        <p:xfrm>
          <a:off x="548640" y="1481328"/>
          <a:ext cx="11091672" cy="31089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症狀（都少 30% 業績）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漏斗長相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病因方向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處方方向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入口太少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第一層數量不足，後面轉換率正常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行銷／開發量不夠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加大名單來源、行銷投放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中段大失血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 → 議價轉換率遠低於同業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提案品質、價格策略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提案範本、報價權限、競品分析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尾段收不了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議價 → 成交卡住、週期拉長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議價授權、臨門一腳能力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折扣授權表、主管陪訪機制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「業績不好」不是診斷，是症狀。漏斗報表讓你看見「病在哪一層」——第五節你會親手做出這張診斷圖。</a:t>
            </a:r>
            <a:endParaRPr lang="en-US" sz="149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第一節・理論 ⑪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系統三種型態：你買的是哪一種？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 err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操作型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支撐每日銷售與服務流程：商機、活動、報價、工單。判斷題：「業務今天願不願意打開它？」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分析型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把累積的資料變成洞察：分群、CLV、流失預警。操作型是它的資料來源——沒有前者就沒有後者。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協作型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打通客戶接觸的各通路：電子郵件、LINE、客服、社群，讓每個部門看見同一個客戶。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5321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多數導入失敗案是「拿分析型的期待，買了操作型的系統，卻沒建立操作的紀律」。</a:t>
            </a:r>
            <a:endParaRPr lang="en-US" sz="149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第一節・市場地圖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主流雲端 CRM 比較：Odoo 的位置在哪裡？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35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803877"/>
              </p:ext>
            </p:extLst>
          </p:nvPr>
        </p:nvGraphicFramePr>
        <p:xfrm>
          <a:off x="548640" y="1481328"/>
          <a:ext cx="12006072" cy="34290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定位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免費方案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入門付費（每人／月）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適合對象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Salesforce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企業級市場領導者、生態最大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無（僅限期試用）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US$25 起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中大型企業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HubSpot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行銷導向、上手快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有，功能受限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US$15–20 起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行銷驅動團隊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Zoho CRM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高性價比套裝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人以內免費版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US$14 起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小型團隊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22" b="1">
                          <a:solidFill>
                            <a:srgbClr val="0280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Odoo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開源 ERP 生態、模組化擴充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 b="1">
                          <a:solidFill>
                            <a:srgbClr val="0280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單一 App 永久免費・人數不限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約 US$24.9 起（含全部 App）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22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想從 CRM 長成 ERP 的企業</a:t>
                      </a:r>
                      <a:endParaRPr lang="en-US" sz="1322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1663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8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各家價格為 2026 年公開牌價之約略值，實際以官網為準。</a:t>
            </a:r>
            <a:endParaRPr lang="en-US" sz="1208"/>
          </a:p>
        </p:txBody>
      </p:sp>
      <p:sp>
        <p:nvSpPr>
          <p:cNvPr id="8" name="Shape 5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804672" y="55321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本課選 Odoo 的關鍵：免費方案「不限人數、含雲端主機」——全班每人開一套，成本為零。</a:t>
            </a:r>
            <a:endParaRPr lang="en-US" sz="149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第一節・選型理由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為什麼用 Odoo 上這門課？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零成本、零安裝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App Free＋官方雲端主機：瀏覽器打開就能用，教室裡人手一套。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6213348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32804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6981444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介面完整繁中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6451092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官方語言檔持續維護（本教材用詞即與其逐字一致），EMBA 不必先過英文關。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7947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1316736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麻雀雖小五臟俱全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786384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商機漏斗、活動、電子郵件整合、預測評分、樞紐報表——教學所需的管理概念全部齊備。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6213348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32804" y="37947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6981444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有真實的成長路徑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6451092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課後可長成報價、庫存、會計的完整 ERP——學的不是玩具，是真實選項。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548640" y="574243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804672" y="5742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教學選型 ≠ 採購背書：課堂學的是「概念與方法」，回公司選型仍應依需求評估——第五節會給你評估框架。</a:t>
            </a:r>
            <a:endParaRPr lang="en-US" sz="149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第一節・商業視角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「免費」背後的商業模式：Odoo 為什麼願意？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Odoo 的雙軌結構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Community 社群版：核心程式碼開源、可自架、永久免費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Enterprise 企業版：進階功能＋官方雲端＋支援，訂閱收費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App Free＝企業版的「入門漏斗」：先用一個 App 養成習慣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對使用者的策略意義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免費不是陷阱，是廠商的獲客投資——理解動機，用得更安心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「裝第二個 App 才收費」＝把付費決定權完全交給價值感受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觀點：這正是 Freemium／Land-and-Expand 的教科書案例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看懂對方的商業模式，是所有採購談判的第一步——這一頁本身就是一堂商業模式課。</a:t>
            </a:r>
            <a:endParaRPr lang="en-US" sz="149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第一節・部署決策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三種部署方式：為什麼本課選 Odoo Online 雲端？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35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986876"/>
              </p:ext>
            </p:extLst>
          </p:nvPr>
        </p:nvGraphicFramePr>
        <p:xfrm>
          <a:off x="548640" y="1481328"/>
          <a:ext cx="11091672" cy="29260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部署方式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主機在哪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成本結構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適合情境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本課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Odoo Online（SaaS）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官方雲端代管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免費起步；付費按人月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快速上線、無 IT 人力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 b="1">
                          <a:solidFill>
                            <a:srgbClr val="02809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✔ 採用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Odoo.sh（PaaS）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官方雲端＋可客製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平台費＋訂閱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需要客製開發的成長企業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自架（On-premise）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自己的機房／VM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軟體免費、維運自負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資料主權要求高、有 IT 團隊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決策軸只有兩條：資料主權要求 × IT 能量。課堂選 Online 是為了「零門檻」，你公司的答案可能不同。</a:t>
            </a:r>
            <a:endParaRPr lang="en-US" sz="149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第一節・免費方案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 App Free 怎麼免費？看懂規則才不會踩雷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免費方案給你什麼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App 永久免費（本課只裝 CRM）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使用者人數不限——全公司都能用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含官方雲端主機（Odoo Online）、每日備份、版本更新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介面繁體中文、行動裝置支援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4206240"/>
          </a:xfrm>
          <a:prstGeom prst="roundRect">
            <a:avLst>
              <a:gd name="adj" fmla="val 2174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遊戲規則（重要）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註冊即獲 15 天「全功能試用」：這是體驗緩衝，不是免費倒數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試用期滿：只要維持單一 App，自動回到永久免費，資料不動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安裝「第 2 個 App」那一刻起 → 全資料庫改為按使用者付費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主導權完全在你：不裝第二個 App，就永遠不會被收費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486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一句話版本：「只裝 CRM＝永遠免費」。今天課堂的所有操作，都在這條安全線內。</a:t>
            </a:r>
            <a:endParaRPr lang="en-US" sz="149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第一節・免費方案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免費方案的邊界：先知道，才不會期待落空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5336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 App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聯絡人、討論等「內建工具」不佔額度；但報價單（銷售 App）、開發票等要付費才有。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537460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280949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628900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每日外寄郵件有上限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2939796"/>
            <a:ext cx="10415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課堂測試綽綽有餘；大量行銷寄送屬於另外的付費服務。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86562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685032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不含進階客製工具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3995928"/>
            <a:ext cx="10415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免費方案無法用 Studio 拖拉改欄位；但階段、標籤、損失原因等「設定級」客製都可以。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4649724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49217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0" name="Text 18"/>
          <p:cNvSpPr/>
          <p:nvPr/>
        </p:nvSpPr>
        <p:spPr>
          <a:xfrm>
            <a:off x="1225296" y="474116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支援以文件與社群為主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1225296" y="5052060"/>
            <a:ext cx="104150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免費使用者沒有專屬客服；官方文件、教學影片與社群資源相當完整。</a:t>
            </a:r>
            <a:endParaRPr lang="en-US" sz="138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第一節・回到你的公司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導入前自我評估八問（回家對照用）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資料在哪？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客戶名單與往來紀錄，現在存在誰的什麼工具裡？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3380994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00450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4149090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誰會離職？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3618738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哪位同仁離開會帶走最多「組織記憶」？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6213348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32804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6981444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流程清楚嗎？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6451092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從接觸到成交的階段，說得出口徑一致的版本嗎？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9045702" y="1481328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265158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9813798" y="1682496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老闆會用嗎？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9283446" y="2231136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高階主管願不願意「只看系統數字」開會？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68096" y="36576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25"/>
          </a:p>
        </p:txBody>
      </p:sp>
      <p:sp>
        <p:nvSpPr>
          <p:cNvPr id="24" name="Text 22"/>
          <p:cNvSpPr/>
          <p:nvPr/>
        </p:nvSpPr>
        <p:spPr>
          <a:xfrm>
            <a:off x="1316736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誰負責輸入？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786384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第一線輸入資料，對他自己有什麼好處？</a:t>
            </a:r>
            <a:endParaRPr lang="en-US" sz="1380"/>
          </a:p>
        </p:txBody>
      </p:sp>
      <p:sp>
        <p:nvSpPr>
          <p:cNvPr id="26" name="Shape 24"/>
          <p:cNvSpPr/>
          <p:nvPr/>
        </p:nvSpPr>
        <p:spPr>
          <a:xfrm>
            <a:off x="3380994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600450" y="365760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25"/>
          </a:p>
        </p:txBody>
      </p:sp>
      <p:sp>
        <p:nvSpPr>
          <p:cNvPr id="28" name="Text 26"/>
          <p:cNvSpPr/>
          <p:nvPr/>
        </p:nvSpPr>
        <p:spPr>
          <a:xfrm>
            <a:off x="4149090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連動嗎？</a:t>
            </a:r>
            <a:endParaRPr lang="en-US" sz="1667"/>
          </a:p>
        </p:txBody>
      </p:sp>
      <p:sp>
        <p:nvSpPr>
          <p:cNvPr id="29" name="Text 27"/>
          <p:cNvSpPr/>
          <p:nvPr/>
        </p:nvSpPr>
        <p:spPr>
          <a:xfrm>
            <a:off x="3618738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獎金與考核，會不會改成看系統數字？</a:t>
            </a:r>
            <a:endParaRPr lang="en-US" sz="1380"/>
          </a:p>
        </p:txBody>
      </p:sp>
      <p:sp>
        <p:nvSpPr>
          <p:cNvPr id="30" name="Shape 28"/>
          <p:cNvSpPr/>
          <p:nvPr/>
        </p:nvSpPr>
        <p:spPr>
          <a:xfrm>
            <a:off x="6213348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432804" y="36576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725"/>
          </a:p>
        </p:txBody>
      </p:sp>
      <p:sp>
        <p:nvSpPr>
          <p:cNvPr id="32" name="Text 30"/>
          <p:cNvSpPr/>
          <p:nvPr/>
        </p:nvSpPr>
        <p:spPr>
          <a:xfrm>
            <a:off x="6981444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誰當管理員？</a:t>
            </a:r>
            <a:endParaRPr lang="en-US" sz="1667"/>
          </a:p>
        </p:txBody>
      </p:sp>
      <p:sp>
        <p:nvSpPr>
          <p:cNvPr id="33" name="Text 31"/>
          <p:cNvSpPr/>
          <p:nvPr/>
        </p:nvSpPr>
        <p:spPr>
          <a:xfrm>
            <a:off x="6451092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內部有沒有人願意當系統的 Champion？</a:t>
            </a:r>
            <a:endParaRPr lang="en-US" sz="1380"/>
          </a:p>
        </p:txBody>
      </p:sp>
      <p:sp>
        <p:nvSpPr>
          <p:cNvPr id="34" name="Shape 32"/>
          <p:cNvSpPr/>
          <p:nvPr/>
        </p:nvSpPr>
        <p:spPr>
          <a:xfrm>
            <a:off x="9045702" y="3456432"/>
            <a:ext cx="2594610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9265158" y="36576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725"/>
          </a:p>
        </p:txBody>
      </p:sp>
      <p:sp>
        <p:nvSpPr>
          <p:cNvPr id="36" name="Text 34"/>
          <p:cNvSpPr/>
          <p:nvPr/>
        </p:nvSpPr>
        <p:spPr>
          <a:xfrm>
            <a:off x="9813798" y="3657600"/>
            <a:ext cx="16802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多久見效？</a:t>
            </a:r>
            <a:endParaRPr lang="en-US" sz="1667"/>
          </a:p>
        </p:txBody>
      </p:sp>
      <p:sp>
        <p:nvSpPr>
          <p:cNvPr id="37" name="Text 35"/>
          <p:cNvSpPr/>
          <p:nvPr/>
        </p:nvSpPr>
        <p:spPr>
          <a:xfrm>
            <a:off x="9283446" y="4206240"/>
            <a:ext cx="21191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你能接受 90 天養成期，還是期待一鍵見效？</a:t>
            </a:r>
            <a:endParaRPr lang="en-US" sz="1380"/>
          </a:p>
        </p:txBody>
      </p:sp>
      <p:sp>
        <p:nvSpPr>
          <p:cNvPr id="38" name="Text 36"/>
          <p:cNvSpPr/>
          <p:nvPr/>
        </p:nvSpPr>
        <p:spPr>
          <a:xfrm>
            <a:off x="566928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答不出三題以上：先補流程，再談系統——這是第五節「導入策略」的預告。</a:t>
            </a:r>
            <a:endParaRPr lang="en-US" sz="1438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第一節・實作準備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 3 分鐘：電腦教室 Checklist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905256"/>
          </a:xfrm>
          <a:prstGeom prst="roundRect">
            <a:avLst>
              <a:gd name="adj" fmla="val 808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4193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一組能立刻收信的 Email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建議個人 Gmail——部分企業信箱會攔驗證信；等一下註冊要即時收驗證信。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91672" cy="905256"/>
          </a:xfrm>
          <a:prstGeom prst="roundRect">
            <a:avLst>
              <a:gd name="adj" fmla="val 808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277520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606040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想好一組密碼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2916936"/>
            <a:ext cx="10415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課堂註冊專用，請勿沿用公司重要密碼。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547872"/>
            <a:ext cx="11091672" cy="905256"/>
          </a:xfrm>
          <a:prstGeom prst="roundRect">
            <a:avLst>
              <a:gd name="adj" fmla="val 808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8084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639312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瀏覽器就緒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3950208"/>
            <a:ext cx="10415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Chrome 或 Edge 最新版；關閉會擋彈窗的外掛。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4581144"/>
            <a:ext cx="11091672" cy="905256"/>
          </a:xfrm>
          <a:prstGeom prst="roundRect">
            <a:avLst>
              <a:gd name="adj" fmla="val 808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48417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0" name="Text 18"/>
          <p:cNvSpPr/>
          <p:nvPr/>
        </p:nvSpPr>
        <p:spPr>
          <a:xfrm>
            <a:off x="1225296" y="467258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資料庫命名規則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1225296" y="4983480"/>
            <a:ext cx="10415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統一命名「嘉禾茶業-你的學號」——網址會變成「嘉禾茶業-學號.odoo.com」。</a:t>
            </a:r>
            <a:endParaRPr lang="en-US" sz="1380"/>
          </a:p>
        </p:txBody>
      </p:sp>
      <p:sp>
        <p:nvSpPr>
          <p:cNvPr id="22" name="Text 20"/>
          <p:cNvSpPr/>
          <p:nvPr/>
        </p:nvSpPr>
        <p:spPr>
          <a:xfrm>
            <a:off x="566928" y="56692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口訣：信箱、密碼、瀏覽器、命名——四樣就緒就出發。</a:t>
            </a:r>
            <a:endParaRPr lang="en-US" sz="1438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第一節・實作 1-1（約 8 分鐘）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註冊 Odoo Online：從零到擁有一套雲端 CRM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2547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進入官網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瀏覽器開 odoo.com，點「Try it now / 免費試用」。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725473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odoo.com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481682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72582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57312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只勾 CRM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2884018"/>
            <a:ext cx="712317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清單中「只勾選 CRM」一個——這是維持永久免費的關鍵。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272582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 清單 ▸ CRM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482035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37261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573475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填基本資料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3884371"/>
            <a:ext cx="712317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姓名、Email（能立刻收信）、密碼；公司名稱填「嘉禾茶業」。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372618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基本資料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4482389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472653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4573829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命名資料庫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4884725"/>
            <a:ext cx="712317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「嘉禾茶業-你的學號」→ 送出。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472653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資料庫名稱</a:t>
            </a:r>
            <a:endParaRPr lang="en-US" sz="1265"/>
          </a:p>
        </p:txBody>
      </p:sp>
      <p:sp>
        <p:nvSpPr>
          <p:cNvPr id="26" name="Shape 24"/>
          <p:cNvSpPr/>
          <p:nvPr/>
        </p:nvSpPr>
        <p:spPr>
          <a:xfrm>
            <a:off x="548640" y="5482742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13232" y="5726887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95"/>
          </a:p>
        </p:txBody>
      </p:sp>
      <p:sp>
        <p:nvSpPr>
          <p:cNvPr id="28" name="Text 26"/>
          <p:cNvSpPr/>
          <p:nvPr/>
        </p:nvSpPr>
        <p:spPr>
          <a:xfrm>
            <a:off x="1225296" y="557418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收信驗證</a:t>
            </a:r>
            <a:endParaRPr lang="en-US" sz="1667"/>
          </a:p>
        </p:txBody>
      </p:sp>
      <p:sp>
        <p:nvSpPr>
          <p:cNvPr id="29" name="Text 27"/>
          <p:cNvSpPr/>
          <p:nvPr/>
        </p:nvSpPr>
        <p:spPr>
          <a:xfrm>
            <a:off x="1225296" y="5885078"/>
            <a:ext cx="712317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到信箱點驗證連結——看到「看板」畫面才算完成。</a:t>
            </a:r>
            <a:endParaRPr lang="en-US" sz="1380"/>
          </a:p>
        </p:txBody>
      </p:sp>
      <p:sp>
        <p:nvSpPr>
          <p:cNvPr id="30" name="Text 28"/>
          <p:cNvSpPr/>
          <p:nvPr/>
        </p:nvSpPr>
        <p:spPr>
          <a:xfrm>
            <a:off x="8439912" y="5726887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 ▸ 驗證連結</a:t>
            </a:r>
            <a:endParaRPr lang="en-US" sz="126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第一節・實作 1-1b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卡住了？三個最常見狀況的 30 秒排除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35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04392"/>
              </p:ext>
            </p:extLst>
          </p:nvPr>
        </p:nvGraphicFramePr>
        <p:xfrm>
          <a:off x="548640" y="1481328"/>
          <a:ext cx="11091672" cy="3474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原因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現場處理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收不到驗證信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郵件延遲／被歸垃圾郵件／企業信箱攔截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查垃圾郵件、等 2–3 分鐘；仍無 → 直接換 Gmail 重新註冊（約 3 分鐘）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資料庫名稱不能用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名稱已被別人註冊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改「嘉禾茶業-學號」或名稱後加任意數字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頁面卡住不動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教室頻寬瞬間壅塞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重新整理一次；仍卡 → 舉手，先看鄰座畫面跟上進度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原則：單點卡關超過 3 分鐘就換路走（換信箱、換名稱），不要糾纏——課後有完整步驟可補做。</a:t>
            </a:r>
            <a:endParaRPr lang="en-US" sz="1495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第一節・實作 1-2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切換繁體中文與基本偏好設定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開啟偏好設定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點右上角個人頭像 ▸ 我的個人資料 ▸ 偏好設定。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頭像 ▸ 偏好設定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選語言與時區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Language 選「繁體中文」；Timezone 選「Asia/Taipei」→ 儲存。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語言・時區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重新整理頁面確認介面已中文化。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5449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51937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備用路徑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504688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若語言清單沒有繁中：到 設定（Settings）▸ 翻譯 ▸ 新增語言，載入後再回偏好設定選取。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544982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 ▸ 翻譯</a:t>
            </a:r>
            <a:endParaRPr lang="en-US" sz="1265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第一節・實作 1-3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介面導覽：跟著把六個地方各點一遍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2011680"/>
          </a:xfrm>
          <a:prstGeom prst="roundRect">
            <a:avLst>
              <a:gd name="adj" fmla="val 409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主選單（九宮格）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左上角：所有 App 的入口——今天只會有 CRM 與內建工具。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2011680"/>
          </a:xfrm>
          <a:prstGeom prst="roundRect">
            <a:avLst>
              <a:gd name="adj" fmla="val 409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搜尋列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畫面上方：篩選、分組依據、最愛都藏在這裡（第五節主角）。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2011680"/>
          </a:xfrm>
          <a:prstGeom prst="roundRect">
            <a:avLst>
              <a:gd name="adj" fmla="val 409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「新增」按鈕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任何畫面要建資料都靠它——等一下建商機就用它。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3730752"/>
            <a:ext cx="3538728" cy="2011680"/>
          </a:xfrm>
          <a:prstGeom prst="roundRect">
            <a:avLst>
              <a:gd name="adj" fmla="val 409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68096" y="393192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1316736" y="3931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視圖切換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786384" y="448056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右上角小圖示：看板／清單／樞紐分析表／圖形隨時切換。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4325112" y="3730752"/>
            <a:ext cx="3538728" cy="2011680"/>
          </a:xfrm>
          <a:prstGeom prst="roundRect">
            <a:avLst>
              <a:gd name="adj" fmla="val 409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44568" y="393192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25"/>
          </a:p>
        </p:txBody>
      </p:sp>
      <p:sp>
        <p:nvSpPr>
          <p:cNvPr id="24" name="Text 22"/>
          <p:cNvSpPr/>
          <p:nvPr/>
        </p:nvSpPr>
        <p:spPr>
          <a:xfrm>
            <a:off x="5093208" y="3931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活動鈴鐺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4562856" y="448056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右上角：你的待辦活動都會在這裡提醒（第三節主角）。</a:t>
            </a:r>
            <a:endParaRPr lang="en-US" sz="1380"/>
          </a:p>
        </p:txBody>
      </p:sp>
      <p:sp>
        <p:nvSpPr>
          <p:cNvPr id="26" name="Shape 24"/>
          <p:cNvSpPr/>
          <p:nvPr/>
        </p:nvSpPr>
        <p:spPr>
          <a:xfrm>
            <a:off x="8101584" y="3730752"/>
            <a:ext cx="3538728" cy="2011680"/>
          </a:xfrm>
          <a:prstGeom prst="roundRect">
            <a:avLst>
              <a:gd name="adj" fmla="val 409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8321040" y="393192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25"/>
          </a:p>
        </p:txBody>
      </p:sp>
      <p:sp>
        <p:nvSpPr>
          <p:cNvPr id="28" name="Text 26"/>
          <p:cNvSpPr/>
          <p:nvPr/>
        </p:nvSpPr>
        <p:spPr>
          <a:xfrm>
            <a:off x="8869680" y="3931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討論（Discuss）</a:t>
            </a:r>
            <a:endParaRPr lang="en-US" sz="1667"/>
          </a:p>
        </p:txBody>
      </p:sp>
      <p:sp>
        <p:nvSpPr>
          <p:cNvPr id="29" name="Text 27"/>
          <p:cNvSpPr/>
          <p:nvPr/>
        </p:nvSpPr>
        <p:spPr>
          <a:xfrm>
            <a:off x="8339328" y="4480560"/>
            <a:ext cx="30632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站內即時訊息，與商機的訊息紀錄相通。</a:t>
            </a:r>
            <a:endParaRPr lang="en-US" sz="138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31" name="Text 29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035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第一節・實作 1-3b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搜尋列的三兄弟：先認識，第五節重逢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77240" y="1709928"/>
            <a:ext cx="1737360" cy="402336"/>
          </a:xfrm>
          <a:prstGeom prst="roundRect">
            <a:avLst>
              <a:gd name="adj" fmla="val 36364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265176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Filters</a:t>
            </a:r>
            <a:endParaRPr lang="en-US" sz="1265"/>
          </a:p>
        </p:txBody>
      </p:sp>
      <p:sp>
        <p:nvSpPr>
          <p:cNvPr id="9" name="Text 7"/>
          <p:cNvSpPr/>
          <p:nvPr/>
        </p:nvSpPr>
        <p:spPr>
          <a:xfrm>
            <a:off x="795528" y="235000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把不要的資料藏起來：例如只看「我的」商機、只看「已損失」。</a:t>
            </a:r>
            <a:endParaRPr lang="en-US" sz="1438"/>
          </a:p>
        </p:txBody>
      </p:sp>
      <p:sp>
        <p:nvSpPr>
          <p:cNvPr id="10" name="Shape 8"/>
          <p:cNvSpPr/>
          <p:nvPr/>
        </p:nvSpPr>
        <p:spPr>
          <a:xfrm>
            <a:off x="4334256" y="1481328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62856" y="1709928"/>
            <a:ext cx="1737360" cy="402336"/>
          </a:xfrm>
          <a:prstGeom prst="roundRect">
            <a:avLst>
              <a:gd name="adj" fmla="val 36364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分組依據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6437376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Group By</a:t>
            </a:r>
            <a:endParaRPr lang="en-US" sz="1265"/>
          </a:p>
        </p:txBody>
      </p:sp>
      <p:sp>
        <p:nvSpPr>
          <p:cNvPr id="13" name="Text 11"/>
          <p:cNvSpPr/>
          <p:nvPr/>
        </p:nvSpPr>
        <p:spPr>
          <a:xfrm>
            <a:off x="4581144" y="235000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把資料切堆看：依階段、依銷售人員、依月份分組。</a:t>
            </a:r>
            <a:endParaRPr lang="en-US" sz="1438"/>
          </a:p>
        </p:txBody>
      </p:sp>
      <p:sp>
        <p:nvSpPr>
          <p:cNvPr id="14" name="Shape 12"/>
          <p:cNvSpPr/>
          <p:nvPr/>
        </p:nvSpPr>
        <p:spPr>
          <a:xfrm>
            <a:off x="8119872" y="1481328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F4FAFA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48472" y="1709928"/>
            <a:ext cx="1737360" cy="402336"/>
          </a:xfrm>
          <a:prstGeom prst="roundRect">
            <a:avLst>
              <a:gd name="adj" fmla="val 36364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最愛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0222992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Favorites</a:t>
            </a:r>
            <a:endParaRPr lang="en-US" sz="1265"/>
          </a:p>
        </p:txBody>
      </p:sp>
      <p:sp>
        <p:nvSpPr>
          <p:cNvPr id="17" name="Text 15"/>
          <p:cNvSpPr/>
          <p:nvPr/>
        </p:nvSpPr>
        <p:spPr>
          <a:xfrm>
            <a:off x="8366760" y="2350008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把調好的檢視存起來：可設「預設篩選器」、可「分享」給全團隊。</a:t>
            </a:r>
            <a:endParaRPr lang="en-US" sz="1438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0292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現在只要記得它們住在搜尋列裡；第五節的報表實作，全靠這三兄弟出手。</a:t>
            </a:r>
            <a:endParaRPr lang="en-US" sz="1495"/>
          </a:p>
        </p:txBody>
      </p:sp>
      <p:sp>
        <p:nvSpPr>
          <p:cNvPr id="20" name="Text 18"/>
          <p:cNvSpPr/>
          <p:nvPr/>
        </p:nvSpPr>
        <p:spPr>
          <a:xfrm>
            <a:off x="566928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小練習（30 秒）：篩選 ▸ 點一下任一項再取消，感受資料被藏起又出現。</a:t>
            </a:r>
            <a:endParaRPr lang="en-US" sz="138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第一節・檢核點 ①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本節檢核與管理討論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943600" cy="4709160"/>
          </a:xfrm>
          <a:prstGeom prst="roundRect">
            <a:avLst>
              <a:gd name="adj" fmla="val 1942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實作檢核：完成才算過關</a:t>
            </a:r>
            <a:endParaRPr lang="en-US" sz="1840"/>
          </a:p>
        </p:txBody>
      </p:sp>
      <p:sp>
        <p:nvSpPr>
          <p:cNvPr id="8" name="Text 6"/>
          <p:cNvSpPr/>
          <p:nvPr/>
        </p:nvSpPr>
        <p:spPr>
          <a:xfrm>
            <a:off x="868680" y="23225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9" name="Text 7"/>
          <p:cNvSpPr/>
          <p:nvPr/>
        </p:nvSpPr>
        <p:spPr>
          <a:xfrm>
            <a:off x="1389888" y="22128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能登入「你的名稱.odoo.com」自己的資料庫</a:t>
            </a:r>
            <a:endParaRPr lang="en-US" sz="1495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1" name="Text 9"/>
          <p:cNvSpPr/>
          <p:nvPr/>
        </p:nvSpPr>
        <p:spPr>
          <a:xfrm>
            <a:off x="1389888" y="292608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介面已切換為繁體中文、時區為台北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3" name="Text 11"/>
          <p:cNvSpPr/>
          <p:nvPr/>
        </p:nvSpPr>
        <p:spPr>
          <a:xfrm>
            <a:off x="1389888" y="363931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看板顯示四個預設階段：新潛在客戶／已評估／提案／成交</a:t>
            </a:r>
            <a:endParaRPr lang="en-US" sz="1495"/>
          </a:p>
        </p:txBody>
      </p:sp>
      <p:sp>
        <p:nvSpPr>
          <p:cNvPr id="14" name="Shape 12"/>
          <p:cNvSpPr/>
          <p:nvPr/>
        </p:nvSpPr>
        <p:spPr>
          <a:xfrm>
            <a:off x="6720840" y="1481328"/>
            <a:ext cx="4919472" cy="4709160"/>
          </a:xfrm>
          <a:prstGeom prst="roundRect">
            <a:avLst>
              <a:gd name="adj" fmla="val 1942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76872" y="1700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討論（3 分鐘）</a:t>
            </a:r>
            <a:endParaRPr lang="en-US" sz="1840"/>
          </a:p>
        </p:txBody>
      </p:sp>
      <p:sp>
        <p:nvSpPr>
          <p:cNvPr id="16" name="Text 14"/>
          <p:cNvSpPr/>
          <p:nvPr/>
        </p:nvSpPr>
        <p:spPr>
          <a:xfrm>
            <a:off x="6976872" y="2231136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你的公司，現在用什麼管理客戶？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6976872" y="3081528"/>
            <a:ext cx="4407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Excel、LINE 群組、名片盒，還是資深業務的腦袋？</a:t>
            </a:r>
            <a:endParaRPr lang="en-US" sz="1438"/>
          </a:p>
          <a:p>
            <a:pPr marL="0" indent="0">
              <a:buNone/>
            </a:pP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請想一個具體情境：上一位離職業務帶走了什麼？——「組織記憶」到底存在哪裡，是本課程反覆回來的管理主題。</a:t>
            </a:r>
            <a:endParaRPr lang="en-US" sz="1438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60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850" b="1">
                <a:solidFill>
                  <a:srgbClr val="0C47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185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554480" cy="402336"/>
          </a:xfrm>
          <a:prstGeom prst="roundRect">
            <a:avLst>
              <a:gd name="adj" fmla="val 36364"/>
            </a:avLst>
          </a:prstGeom>
          <a:solidFill>
            <a:srgbClr val="0D4650"/>
          </a:solidFill>
          <a:ln w="9525">
            <a:solidFill>
              <a:srgbClr val="15647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節</a:t>
            </a:r>
            <a:endParaRPr lang="en-US" sz="161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商機漏斗</a:t>
            </a:r>
            <a:endParaRPr lang="en-US" sz="4600"/>
          </a:p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與商機管理</a:t>
            </a:r>
            <a:endParaRPr lang="en-US" sz="460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把嘉禾茶業的銷售流程，變成一條看得見、拖得動的商機漏斗</a:t>
            </a:r>
            <a:endParaRPr lang="en-US" sz="184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1078992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85800" y="4983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00:55 – 01:50　　</a:t>
            </a: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本節內容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潛在商機 vs 商機・BANT・階段設計・看板方法・自訂六階段・建立 6 筆商機</a:t>
            </a:r>
            <a:endParaRPr lang="en-US" sz="161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035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⑫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潛在商機 vs 商機：先分流，才能把時間花在刀口上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潛在商機（Lead）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一張名片、一筆表單、一通詢價——尚未驗證的名單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特性：量大、雜訊多、成交率低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管理重點：快速回應、快速分流（合格 → 轉為商機；不合格 → 培養或放掉）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商機（Opportunity）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通過資格判斷、值得投入業務時間的案子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特性：量少、資訊完整、有金額與時程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管理重點：階段推進、下一步活動、成交／損失覆盤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一張名片不等於一個案子。本課為聚焦，直接在「商機」層操作；潛在商機分流機制留待你公司量大時開啟（配置中可切換）。</a:t>
            </a:r>
            <a:endParaRPr lang="en-US" sz="1495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⑬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潛在商機從哪來？來源設計決定漏斗的水量與水質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035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331234"/>
              </p:ext>
            </p:extLst>
          </p:nvPr>
        </p:nvGraphicFramePr>
        <p:xfrm>
          <a:off x="548640" y="1481328"/>
          <a:ext cx="11091672" cy="340156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嘉禾範例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水量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水質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分流責任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官網／表單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禮盒型錄下載、詢價表單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內勤 24 小時內初篩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展會／活動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食品展、企業採購媒合會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高（短期）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低–中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展後 48 小時內分流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轉介紹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老客戶引薦（如玉山 → 其他銀行）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業務直接建商機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主動開發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鎖定名單陌生開發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可控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取決名單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業務自建、週會檢視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進線詢價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電話／電子郵件直接詢價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當日回應、當日判斷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6235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管理句：每一條來源都要有「負責人＋回應時限」。來源欄位記實，第五節才能分析「哪條水管最值錢」。</a:t>
            </a:r>
            <a:endParaRPr lang="en-US" sz="1495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⑭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BANT：四個問題，判斷這個案子值不值得追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預算 Budget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「這次採購的預算範圍大概是？」——嘉禾情境：對方年節禮盒預算 30–50 萬。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6213348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32804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6981444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決策權 Authority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6451092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「這案子最後由誰拍板？」——是承辦、採購主管，還是福委會投票？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7947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1316736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 需求 Need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786384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「為什麼是現在？想解決什麼？」——送禮體面？預算消化？長期供應商替換？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6213348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32804" y="37947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6981444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時程 Timeline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6451092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「什麼時候要交貨？」——年節檔期回推：12 月中前必須簽約。</a:t>
            </a:r>
            <a:endParaRPr lang="en-US" sz="1380"/>
          </a:p>
        </p:txBody>
      </p:sp>
      <p:sp>
        <p:nvSpPr>
          <p:cNvPr id="22" name="Text 20"/>
          <p:cNvSpPr/>
          <p:nvPr/>
        </p:nvSpPr>
        <p:spPr>
          <a:xfrm>
            <a:off x="566928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四問過了才進漏斗；缺一項就補問——「資格判斷」是業務時間的第一道守門員。</a:t>
            </a:r>
            <a:endParaRPr lang="en-US" sz="1438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⑮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BANT 之外：大案子用 MEDDIC，快節奏用 CHAMP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MEDDIC（複雜大單）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Metrics 量化效益｜Economic buyer 出錢的人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 criteria／process 決策標準與流程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Identify pain 痛點｜Champion 內部擁護者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適用：金額大、決策鏈長（如台積電 52 萬案）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977640"/>
          </a:xfrm>
          <a:prstGeom prst="roundRect">
            <a:avLst>
              <a:gd name="adj" fmla="val 2299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CHAMP（快節奏小單）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CHallenges 挑戰優先——先聊痛點再談預算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Authority、Money、Prioritization 接續確認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精神：把「需求」放在「預算」前面，談話更自然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適用：中小額、決策快（如誠品 9 萬聯名案）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48640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框架不必背誦，重點是：不同大小的案子，用不同深度的資格判斷——別用大砲問小鳥，也別用彈弓打大象。</a:t>
            </a:r>
            <a:endParaRPr lang="en-US" sz="1495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第二節・小演練（3 分鐘）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資格判斷：這三通電話，哪通該建商機？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035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877528"/>
              </p:ext>
            </p:extLst>
          </p:nvPr>
        </p:nvGraphicFramePr>
        <p:xfrm>
          <a:off x="548640" y="1481328"/>
          <a:ext cx="11091672" cy="3657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關鍵資訊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你的判斷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參考解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 A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某科技公司行政來電：「老闆說今年要換禮盒，預算 40 萬，12 月要，下週想試喝。」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建？不建？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 b="1">
                          <a:solidFill>
                            <a:srgbClr val="0E7A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建商機（BANT 四項齊）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 B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展會換到名片：「有機會再聊聊。」無預算、無時程。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建？不建？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 b="1">
                          <a:solidFill>
                            <a:srgbClr val="9A5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留在潛在商機培養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 C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朋友介紹：「他們福委會在比價，這週五決標，預算 15 萬。」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建？不建？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 b="1">
                          <a:solidFill>
                            <a:srgbClr val="0E7A5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建商機＋標高優先等級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5321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判斷準則：有「預算＋時程」其中之一就值得建檔追蹤；兩者皆無，先培養、別佔用漏斗。</a:t>
            </a:r>
            <a:endParaRPr lang="en-US" sz="1495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⑯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階段設計三原則：階段是客戶的承諾，不是你的動作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原則一：以客戶的承諾為界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「已寄報價」是你的動作；「客戶同意評估」才是他的承諾——後者才算推進一階。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779776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原則二：每一階可驗證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3090672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任何人看到卡片位置，都能說出「客戶做了什麼」；曖昧的階段會被灌水。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98678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原則三：5–7 階為宜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429768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太少看不出瓶頸，太多推不動也養殭屍階段——嘉禾今天用六階。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這是本節最重要的一句話，值得寫下來：階段名稱寫的是「客戶的狀態」，不是「我做過的事」。</a:t>
            </a:r>
            <a:endParaRPr lang="en-US" sz="1495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⑰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階段設計三種常見病（與處方）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035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647891"/>
              </p:ext>
            </p:extLst>
          </p:nvPr>
        </p:nvGraphicFramePr>
        <p:xfrm>
          <a:off x="548640" y="1481328"/>
          <a:ext cx="11091672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病名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症狀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為什麼有害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處方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階段肥大症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 個以上階段，卡片懶得拖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推進成本高 → 沒人更新 → 報表失真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合併為 5–7 階，其餘用標籤記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動作型階段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「已寄型錄」「已打第二通電話」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記的是你的行為，看不出成交距離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改寫成客戶承諾：「同意試喝」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殭屍階段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某一欄永遠 0 筆或永遠不動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掩蓋真實流程、稀釋注意力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每季檢視一次：砍掉或合併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季檢口訣：看兩個數字——「各階段停留天數」與「各階段筆數」，殭屍與瓶頸都會現形。</a:t>
            </a:r>
            <a:endParaRPr lang="en-US" sz="1495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⑱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看板方法小史：從豐田產線到你的商機漏斗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693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1950s 豐田生產系統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看板（Kanban）原是產線的補貨訊號卡：讓「流動」與「瓶頸」被看見。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28575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66090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2000s 軟體業借用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2971800"/>
            <a:ext cx="10415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知識工作把任務變卡片、流程變欄位——視覺化工作流成為主流方法。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94563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749040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今天：銷售看板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4059936"/>
            <a:ext cx="104150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商機是卡片、階段是欄位——你的漏斗第一次「看得見、拖得動」。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6667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4937760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看板的兩個核心價值</a:t>
            </a:r>
            <a:endParaRPr lang="en-US" sz="1782"/>
          </a:p>
        </p:txBody>
      </p:sp>
      <p:sp>
        <p:nvSpPr>
          <p:cNvPr id="20" name="Text 18"/>
          <p:cNvSpPr/>
          <p:nvPr/>
        </p:nvSpPr>
        <p:spPr>
          <a:xfrm>
            <a:off x="822960" y="5376672"/>
            <a:ext cx="10561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視覺化：問題藏不住——哪欄爆量、哪張卡發紅，一眼看見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暴露瓶頸：流動停滯處＝管理該介入處</a:t>
            </a:r>
            <a:endParaRPr lang="en-US" sz="1438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22" name="Text 20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</a:t>
            </a:r>
            <a:endParaRPr lang="en-US" sz="1035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第二節・理論 ⑲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WIP 限制：業務同時追幾個案子才健康？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WIP（在製品）限制的邏輯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同時進行的案子太多 → 每案分到的注意力太少 → 全部變慢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產線經驗移植：限制每欄／每人「同時在辦」數量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實務參考：一位 B2B 業務同時深耕 8–15 個活躍商機（依單價調整）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主管怎麼用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週會第一眼：誰的卡片超載？誰的欄位堵住？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堵在「提案」→ 是提案產能問題，還是客戶決策拖延？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與其催「多開發」，不如先清「卡住的」——流速比水量重要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看板管理的精髓不是「看」，是「限」與「疏」——限制在製、疏通瓶頸。</a:t>
            </a:r>
            <a:endParaRPr lang="en-US" sz="1495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2-1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認識預設商機漏斗：先看懂，再動手改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45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939546"/>
          </a:xfrm>
          <a:prstGeom prst="roundRect">
            <a:avLst>
              <a:gd name="adj" fmla="val 77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59077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打開商機漏斗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 CRM，預設落在「我的商機」看板。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759077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▸ 銷售 ▸ 我的商機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548890"/>
            <a:ext cx="11091672" cy="939546"/>
          </a:xfrm>
          <a:prstGeom prst="roundRect">
            <a:avLst>
              <a:gd name="adj" fmla="val 77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826639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640330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四個預設階段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2951226"/>
            <a:ext cx="71231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新潛在客戶 → 已評估 → 提案 → 成交。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2826639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看板欄位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616452"/>
            <a:ext cx="11091672" cy="939546"/>
          </a:xfrm>
          <a:prstGeom prst="roundRect">
            <a:avLst>
              <a:gd name="adj" fmla="val 77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3894201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7078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認識卡片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018788"/>
            <a:ext cx="71231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直欄＝階段、卡片＝商機、卡片右下彩點＝下一步活動狀態。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3894201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看板卡片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4684014"/>
            <a:ext cx="11091672" cy="939546"/>
          </a:xfrm>
          <a:prstGeom prst="roundRect">
            <a:avLst>
              <a:gd name="adj" fmla="val 77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496176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477545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編輯入口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086350"/>
            <a:ext cx="7123176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滑鼠移到欄名，點齒輪圖示：可編輯名稱、摺疊欄位、刪除階段。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4961763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欄名 ▸ 齒輪</a:t>
            </a:r>
            <a:endParaRPr lang="en-US" sz="1265"/>
          </a:p>
        </p:txBody>
      </p:sp>
      <p:sp>
        <p:nvSpPr>
          <p:cNvPr id="26" name="Text 24"/>
          <p:cNvSpPr/>
          <p:nvPr/>
        </p:nvSpPr>
        <p:spPr>
          <a:xfrm>
            <a:off x="566928" y="57790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2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先只看不改——下一頁我們有計畫地動手。</a:t>
            </a:r>
            <a:endParaRPr lang="en-US" sz="1322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2-2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打造嘉禾六階段：保留四個預設，插入兩個自訂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5336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保留預設四階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新潛在客戶、已評估、提案、成交——名稱不動（與系統預測評分相容性最好）。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753362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維持原名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537460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280949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628900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新增「樣品試喝」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2939796"/>
            <a:ext cx="71231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在「已評估」右側點「＋」新增階段，命名：樣品試喝。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280949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新增階段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386562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68503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新增「議價中」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3995928"/>
            <a:ext cx="71231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在「提案」右側再新增：議價中。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386562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新增階段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4649724"/>
            <a:ext cx="11091672" cy="928116"/>
          </a:xfrm>
          <a:prstGeom prst="roundRect">
            <a:avLst>
              <a:gd name="adj" fmla="val 7882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492175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474116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調整順序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052060"/>
            <a:ext cx="712317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拖曳欄位標題排成：新潛在客戶 → 已評估 → 樣品試喝 → 提案 → 議價中 → 成交。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492175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拖曳欄名排序</a:t>
            </a:r>
            <a:endParaRPr lang="en-US" sz="1265"/>
          </a:p>
        </p:txBody>
      </p:sp>
      <p:sp>
        <p:nvSpPr>
          <p:cNvPr id="26" name="Text 24"/>
          <p:cNvSpPr/>
          <p:nvPr/>
        </p:nvSpPr>
        <p:spPr>
          <a:xfrm>
            <a:off x="566928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2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「樣品試喝」是茶業的語言——回你的公司，請換成你產業裡「客戶的承諾」。全班統一此六階，第五節報表才能對答案。</a:t>
            </a:r>
            <a:endParaRPr lang="en-US" sz="1322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2-2b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階段的進階屬性：摺疊與成功率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47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摺疊欄位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欄名 ▸ 齒輪 ▸ 編輯：勾「已在管道中摺疊」適合放結案類階段，讓畫面聚焦進行中案件。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齒輪 ▸ 編輯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階段與成功率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商機的「成功率」欄位會隨階段與歷史資料變動（第四節詳講預測機制）。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成功率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課堂假設值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為了等一下計算加權漏斗值，全班統一假設：提案階段成功率＝50%。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課堂約定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管理提醒：成功率是「預測的燃料」——亂填一次，污染的是整個團隊未來的預測準度。</a:t>
            </a:r>
            <a:endParaRPr lang="en-US" sz="1495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2-3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建立第一筆商機：台塑企業年節禮盒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新增商機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在「新潛在客戶」欄按「＋」（或左上「新增」按鈕）。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新潛在客戶 ▸ ＋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填名稱與客戶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商機：台塑企業年節禮盒；客戶：台塑企業（現場直接建立）。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名稱・客戶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填兩個關鍵數字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預期收入：400,000；預期結束：12/15。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預期收入・預期結束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5449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51937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504688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按「儲存」——你的第一筆商機上板了。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544982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</a:t>
            </a:r>
            <a:endParaRPr lang="en-US" sz="1265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2-4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商機表單欄位地圖：每一格都連著管理意義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預期收入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不填＝第五節報表全瞎；估不準沒關係，先有再修。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預期結束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預測（Forecast）視圖的地基——按月排程全靠它。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成功率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加權漏斗值的來源；系統會自動估，可手動覆寫。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68096" y="36576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1316736" y="365760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786384" y="420624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日後交叉分析的維度：通路、產品線、案型都可標。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4325112" y="3456432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44568" y="36576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25"/>
          </a:p>
        </p:txBody>
      </p:sp>
      <p:sp>
        <p:nvSpPr>
          <p:cNvPr id="24" name="Text 22"/>
          <p:cNvSpPr/>
          <p:nvPr/>
        </p:nvSpPr>
        <p:spPr>
          <a:xfrm>
            <a:off x="5093208" y="365760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銷售人員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4562856" y="420624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責任歸屬＋個人儀表板；分組報表的主要維度。</a:t>
            </a:r>
            <a:endParaRPr lang="en-US" sz="1380"/>
          </a:p>
        </p:txBody>
      </p:sp>
      <p:sp>
        <p:nvSpPr>
          <p:cNvPr id="26" name="Shape 24"/>
          <p:cNvSpPr/>
          <p:nvPr/>
        </p:nvSpPr>
        <p:spPr>
          <a:xfrm>
            <a:off x="8101584" y="3456432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8321040" y="365760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25"/>
          </a:p>
        </p:txBody>
      </p:sp>
      <p:sp>
        <p:nvSpPr>
          <p:cNvPr id="28" name="Text 26"/>
          <p:cNvSpPr/>
          <p:nvPr/>
        </p:nvSpPr>
        <p:spPr>
          <a:xfrm>
            <a:off x="8869680" y="365760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</a:t>
            </a:r>
            <a:endParaRPr lang="en-US" sz="1667"/>
          </a:p>
        </p:txBody>
      </p:sp>
      <p:sp>
        <p:nvSpPr>
          <p:cNvPr id="29" name="Text 27"/>
          <p:cNvSpPr/>
          <p:nvPr/>
        </p:nvSpPr>
        <p:spPr>
          <a:xfrm>
            <a:off x="8339328" y="420624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串起聯絡人、歷史往來與「類似潛在客戶」偵測。</a:t>
            </a:r>
            <a:endParaRPr lang="en-US" sz="1380"/>
          </a:p>
        </p:txBody>
      </p:sp>
      <p:sp>
        <p:nvSpPr>
          <p:cNvPr id="30" name="Text 28"/>
          <p:cNvSpPr/>
          <p:nvPr/>
        </p:nvSpPr>
        <p:spPr>
          <a:xfrm>
            <a:off x="566928" y="574243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表單口訣：兩個數字（收入、結束日）＋兩個歸屬（人、客戶）＋一組標籤。</a:t>
            </a:r>
            <a:endParaRPr lang="en-US" sz="1438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2-4b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標籤與銷售團隊：先種樹，日後乘涼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幫台塑案上標籤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商機表單「標籤」欄輸入「年節檔」→ 現場建立；再加「企業採購」。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標籤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標籤命名紀律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全公司統一詞彙（配置 ▸ 標籤 可集中管理）——「年節」「過年」「春節」三種寫法＝報表災難。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 ▸ 標籤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認識銷售團隊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商機掛在「銷售團隊」下：多團隊（北區／南區／通路）各自有漏斗與目標。課堂單一團隊即可。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 ▸ 銷售團隊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標籤回答「這是哪一種生意」，團隊回答「這是誰的戰場」——兩者都是第五節分組分析的維度。</a:t>
            </a:r>
            <a:endParaRPr lang="en-US" sz="1495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2-5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看板三動作：拖拉、優先、分組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拖拉推進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把「台塑」卡片從「新潛在客戶」拖到「已評估」——階段推進就是這麼直覺。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拖曳卡片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優先等級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點卡片上的星號：高優先案件排序自動置頂。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 ▸ ★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分組檢視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搜尋列 ▸ 分組依據 ▸ 銷售人員：看板立刻改依人分堆（看完記得清除分組）。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分組依據 ▸ 銷售人員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拖拉的那一秒，系統已同步更新報表——「操作即紀錄」正是看板贏過 Excel 的地方。</a:t>
            </a:r>
            <a:endParaRPr lang="en-US" sz="1495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第二節・小演練（10 分鐘）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輸入五筆指定商機：把 160 萬漏斗建起來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</a:t>
            </a:r>
            <a:endParaRPr lang="en-US" sz="1035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146178"/>
              </p:ext>
            </p:extLst>
          </p:nvPr>
        </p:nvGraphicFramePr>
        <p:xfrm>
          <a:off x="548640" y="1481328"/>
          <a:ext cx="11091672" cy="318211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商機名稱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預期收入（NT$）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起始階段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8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中鋼福委會中秋禮盒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中鋼公司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260,000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新潛在客戶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8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晶華酒店房內茶包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晶華酒店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180,000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已評估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8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台積電尾牙伴手禮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台積電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520,000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樣品試喝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8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玉山銀行 VIP 禮盒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玉山銀行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150,000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提案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38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誠品書店聯名禮盒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誠品書店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90,000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38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新潛在客戶</a:t>
                      </a:r>
                      <a:endParaRPr lang="en-US" sz="1438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完成核對：看板共 6 筆商機、合計 NT$1,600,000。金額照打——第五節的報表答案才會全班一致。快的同學＝小助教，請支援鄰座。</a:t>
            </a:r>
            <a:endParaRPr lang="en-US" sz="1438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52</a:t>
            </a:r>
            <a:endParaRPr lang="en-US" sz="1035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第二節・實作 2-6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清單檢視與批次編輯：一次改一排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切到清單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右上視圖切換 ▸ 清單：同一批商機改用表格呈現，適合盤點與批改。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 ▸ 清單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批次選取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勾選多筆商機 → 上方出現「動作」選單。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勾選 ▸ 動作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小試身手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選兩筆 ▸ 動作 ▸ 試著批次加上「年節檔」標籤（也可從清單直接點格子修改）。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動作 ▸ 標籤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看板適合「推進」、清單適合「盤點」、樞紐適合「分析」——同一份資料，三種視角，切換免費。</a:t>
            </a:r>
            <a:endParaRPr lang="en-US" sz="149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第二節・檢核點 ②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本節檢核與管理討論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943600" cy="4709160"/>
          </a:xfrm>
          <a:prstGeom prst="roundRect">
            <a:avLst>
              <a:gd name="adj" fmla="val 1942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實作檢核：完成才算過關</a:t>
            </a:r>
            <a:endParaRPr lang="en-US" sz="1840"/>
          </a:p>
        </p:txBody>
      </p:sp>
      <p:sp>
        <p:nvSpPr>
          <p:cNvPr id="8" name="Text 6"/>
          <p:cNvSpPr/>
          <p:nvPr/>
        </p:nvSpPr>
        <p:spPr>
          <a:xfrm>
            <a:off x="868680" y="23225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9" name="Text 7"/>
          <p:cNvSpPr/>
          <p:nvPr/>
        </p:nvSpPr>
        <p:spPr>
          <a:xfrm>
            <a:off x="1389888" y="22128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漏斗已是六階段（含樣品試喝、議價中），順序正確</a:t>
            </a:r>
            <a:endParaRPr lang="en-US" sz="1495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1" name="Text 9"/>
          <p:cNvSpPr/>
          <p:nvPr/>
        </p:nvSpPr>
        <p:spPr>
          <a:xfrm>
            <a:off x="1389888" y="292608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看板共 6 筆商機，合計約 NT$160 萬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3" name="Text 11"/>
          <p:cNvSpPr/>
          <p:nvPr/>
        </p:nvSpPr>
        <p:spPr>
          <a:xfrm>
            <a:off x="1389888" y="363931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會拖拉推進、優先星號、依銷售人員分組</a:t>
            </a:r>
            <a:endParaRPr lang="en-US" sz="1495"/>
          </a:p>
        </p:txBody>
      </p:sp>
      <p:sp>
        <p:nvSpPr>
          <p:cNvPr id="14" name="Shape 12"/>
          <p:cNvSpPr/>
          <p:nvPr/>
        </p:nvSpPr>
        <p:spPr>
          <a:xfrm>
            <a:off x="6720840" y="1481328"/>
            <a:ext cx="4919472" cy="4709160"/>
          </a:xfrm>
          <a:prstGeom prst="roundRect">
            <a:avLst>
              <a:gd name="adj" fmla="val 1942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76872" y="1700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討論（3 分鐘）</a:t>
            </a:r>
            <a:endParaRPr lang="en-US" sz="1840"/>
          </a:p>
        </p:txBody>
      </p:sp>
      <p:sp>
        <p:nvSpPr>
          <p:cNvPr id="16" name="Text 14"/>
          <p:cNvSpPr/>
          <p:nvPr/>
        </p:nvSpPr>
        <p:spPr>
          <a:xfrm>
            <a:off x="6976872" y="2231136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加權漏斗值，比總額誠實在哪？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6976872" y="3081528"/>
            <a:ext cx="4407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假設「提案」階段成功率 50%：玉山案（15 萬）對加權漏斗值的貢獻是多少？</a:t>
            </a:r>
            <a:endParaRPr lang="en-US" sz="1438"/>
          </a:p>
          <a:p>
            <a:pPr marL="0" indent="0">
              <a:buNone/>
            </a:pP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再想一層：對董事會報「漏斗 160 萬」與「加權約 68 萬」，哪個更接近真話？為什麼業務通常只想報前者？</a:t>
            </a:r>
            <a:endParaRPr lang="en-US" sz="1438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60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850" b="1">
                <a:solidFill>
                  <a:srgbClr val="0C47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185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554480" cy="402336"/>
          </a:xfrm>
          <a:prstGeom prst="roundRect">
            <a:avLst>
              <a:gd name="adj" fmla="val 36364"/>
            </a:avLst>
          </a:prstGeom>
          <a:solidFill>
            <a:srgbClr val="0D4650"/>
          </a:solidFill>
          <a:ln w="9525">
            <a:solidFill>
              <a:srgbClr val="15647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節</a:t>
            </a:r>
            <a:endParaRPr lang="en-US" sz="161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客戶互動</a:t>
            </a:r>
            <a:endParaRPr lang="en-US" sz="4600"/>
          </a:p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與活動管理</a:t>
            </a:r>
            <a:endParaRPr lang="en-US" sz="460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把客戶關係從「個人資產」變成「組織資產」</a:t>
            </a:r>
            <a:endParaRPr lang="en-US" sz="184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1078992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85800" y="4983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02:05 – 03:00　　</a:t>
            </a: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本節內容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接觸點與資料模型・跟進紀律・聯絡人・活動與燈號・電子郵件歸檔・成交與損失</a:t>
            </a:r>
            <a:endParaRPr lang="en-US" sz="161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</a:t>
            </a:r>
            <a:endParaRPr lang="en-US" sz="1035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⑳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接觸點與組織記憶：沒有紀錄，等於沒有發生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什麼是接觸點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每一次通話、會議、電子郵件、試喝、報價——都是一次接觸點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客戶體驗＝所有接觸點的總和；成交＝接觸點的累積效果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問題：這些接觸點現在記在哪裡？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個人資產 vs 組織資產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記在 LINE、私人信箱、腦袋 ＝ 個人資產：會請假、會離職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記在系統的商機上 ＝ 組織資產：可交接、可稽核、可學習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資深業務退休（嘉禾的第四個問題）＝一場組織記憶的壓力測試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本節每一個實作，都是在做同一件事：把接觸點從「腦袋與私訊」搬進「案子身上」。</a:t>
            </a:r>
            <a:endParaRPr lang="en-US" sz="1495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㉑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四種資料怎麼互相掛勾：一張圖看懂 CRM 的骨架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731520" y="1755648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AFA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聯絡人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公司與窗口</a:t>
            </a:r>
            <a:endParaRPr lang="en-US" sz="1265"/>
          </a:p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（台塑企業／王采購）</a:t>
            </a:r>
            <a:endParaRPr lang="en-US" sz="1265"/>
          </a:p>
        </p:txBody>
      </p:sp>
      <p:sp>
        <p:nvSpPr>
          <p:cNvPr id="9" name="Text 7"/>
          <p:cNvSpPr/>
          <p:nvPr/>
        </p:nvSpPr>
        <p:spPr>
          <a:xfrm>
            <a:off x="3218688" y="23957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0" b="1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─</a:t>
            </a:r>
            <a:endParaRPr lang="en-US" sz="1840"/>
          </a:p>
        </p:txBody>
      </p:sp>
      <p:sp>
        <p:nvSpPr>
          <p:cNvPr id="10" name="Shape 8"/>
          <p:cNvSpPr/>
          <p:nvPr/>
        </p:nvSpPr>
        <p:spPr>
          <a:xfrm>
            <a:off x="3566160" y="1755648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AFA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</a:t>
            </a:r>
            <a:endParaRPr lang="en-US" sz="1782"/>
          </a:p>
        </p:txBody>
      </p:sp>
      <p:sp>
        <p:nvSpPr>
          <p:cNvPr id="12" name="Text 10"/>
          <p:cNvSpPr/>
          <p:nvPr/>
        </p:nvSpPr>
        <p:spPr>
          <a:xfrm>
            <a:off x="3703320" y="239572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一個案子一張卡</a:t>
            </a:r>
            <a:endParaRPr lang="en-US" sz="1265"/>
          </a:p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（台塑年節禮盒 40 萬）</a:t>
            </a:r>
            <a:endParaRPr lang="en-US" sz="1265"/>
          </a:p>
        </p:txBody>
      </p:sp>
      <p:sp>
        <p:nvSpPr>
          <p:cNvPr id="13" name="Text 11"/>
          <p:cNvSpPr/>
          <p:nvPr/>
        </p:nvSpPr>
        <p:spPr>
          <a:xfrm>
            <a:off x="6053328" y="23957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0" b="1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─</a:t>
            </a:r>
            <a:endParaRPr lang="en-US" sz="1840"/>
          </a:p>
        </p:txBody>
      </p:sp>
      <p:sp>
        <p:nvSpPr>
          <p:cNvPr id="14" name="Shape 12"/>
          <p:cNvSpPr/>
          <p:nvPr/>
        </p:nvSpPr>
        <p:spPr>
          <a:xfrm>
            <a:off x="6400800" y="1755648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AFA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</a:t>
            </a:r>
            <a:endParaRPr lang="en-US" sz="1782"/>
          </a:p>
        </p:txBody>
      </p:sp>
      <p:sp>
        <p:nvSpPr>
          <p:cNvPr id="16" name="Text 14"/>
          <p:cNvSpPr/>
          <p:nvPr/>
        </p:nvSpPr>
        <p:spPr>
          <a:xfrm>
            <a:off x="6537960" y="239572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下一步待辦</a:t>
            </a:r>
            <a:endParaRPr lang="en-US" sz="1265"/>
          </a:p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（語音通話／會議）</a:t>
            </a:r>
            <a:endParaRPr lang="en-US" sz="1265"/>
          </a:p>
        </p:txBody>
      </p:sp>
      <p:sp>
        <p:nvSpPr>
          <p:cNvPr id="17" name="Text 15"/>
          <p:cNvSpPr/>
          <p:nvPr/>
        </p:nvSpPr>
        <p:spPr>
          <a:xfrm>
            <a:off x="8887968" y="23957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40" b="1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─</a:t>
            </a:r>
            <a:endParaRPr lang="en-US" sz="1840"/>
          </a:p>
        </p:txBody>
      </p:sp>
      <p:sp>
        <p:nvSpPr>
          <p:cNvPr id="18" name="Shape 16"/>
          <p:cNvSpPr/>
          <p:nvPr/>
        </p:nvSpPr>
        <p:spPr>
          <a:xfrm>
            <a:off x="9235440" y="1755648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4FAFA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235440" y="19202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訊息紀錄</a:t>
            </a:r>
            <a:endParaRPr lang="en-US" sz="1782"/>
          </a:p>
        </p:txBody>
      </p:sp>
      <p:sp>
        <p:nvSpPr>
          <p:cNvPr id="20" name="Text 18"/>
          <p:cNvSpPr/>
          <p:nvPr/>
        </p:nvSpPr>
        <p:spPr>
          <a:xfrm>
            <a:off x="9372600" y="239572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備註・電子郵件往來</a:t>
            </a:r>
            <a:endParaRPr lang="en-US" sz="1265"/>
          </a:p>
          <a:p>
            <a:pPr marL="0" indent="0" algn="ctr">
              <a:buNone/>
            </a:pPr>
            <a:r>
              <a:rPr lang="en-US" sz="126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（全部掛在商機上）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3813048"/>
            <a:ext cx="11091672" cy="2103120"/>
          </a:xfrm>
          <a:prstGeom prst="roundRect">
            <a:avLst>
              <a:gd name="adj" fmla="val 4348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399592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為什麼掛在「商機」上是關鍵設計</a:t>
            </a:r>
            <a:endParaRPr lang="en-US" sz="1782"/>
          </a:p>
        </p:txBody>
      </p:sp>
      <p:sp>
        <p:nvSpPr>
          <p:cNvPr id="23" name="Text 21"/>
          <p:cNvSpPr/>
          <p:nvPr/>
        </p:nvSpPr>
        <p:spPr>
          <a:xfrm>
            <a:off x="822960" y="4434840"/>
            <a:ext cx="10561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以案子為中心：打開任一商機＝看到它的完整人生（誰、談了什麼、下一步、金額）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以客戶為中心：打開聯絡人＝看到與這家公司所有案子的總和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交接只要一個動作：把商機的「銷售人員」換人——歷史全部跟著走</a:t>
            </a:r>
            <a:endParaRPr lang="en-US" sz="1438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25" name="Text 2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</a:t>
            </a:r>
            <a:endParaRPr lang="en-US" sz="1035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㉒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跟進紀律：成交是「追」出來的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E3A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8013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460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38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的成交發生在</a:t>
            </a:r>
            <a:endParaRPr lang="en-US" sz="1438"/>
          </a:p>
          <a:p>
            <a:pPr marL="0" indent="0" algn="ctr">
              <a:buNone/>
            </a:pPr>
            <a:r>
              <a:rPr lang="en-US" sz="1438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次以後的跟進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3474720" y="1481328"/>
            <a:ext cx="2697480" cy="2286000"/>
          </a:xfrm>
          <a:prstGeom prst="roundRect">
            <a:avLst>
              <a:gd name="adj" fmla="val 4000"/>
            </a:avLst>
          </a:prstGeom>
          <a:solidFill>
            <a:srgbClr val="0E3A4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474720" y="180136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44%</a:t>
            </a:r>
            <a:endParaRPr lang="en-US" sz="4600"/>
          </a:p>
        </p:txBody>
      </p:sp>
      <p:sp>
        <p:nvSpPr>
          <p:cNvPr id="11" name="Text 9"/>
          <p:cNvSpPr/>
          <p:nvPr/>
        </p:nvSpPr>
        <p:spPr>
          <a:xfrm>
            <a:off x="3474720" y="276148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38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的業務</a:t>
            </a:r>
            <a:endParaRPr lang="en-US" sz="1438"/>
          </a:p>
          <a:p>
            <a:pPr marL="0" indent="0" algn="ctr">
              <a:buNone/>
            </a:pPr>
            <a:r>
              <a:rPr lang="en-US" sz="1438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跟進 1 次就放棄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6537960" y="1481328"/>
            <a:ext cx="5102352" cy="2286000"/>
          </a:xfrm>
          <a:prstGeom prst="roundRect">
            <a:avLst>
              <a:gd name="adj" fmla="val 4000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793992" y="166420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數字怎麼讀</a:t>
            </a:r>
            <a:endParaRPr lang="en-US" sz="1782"/>
          </a:p>
        </p:txBody>
      </p:sp>
      <p:sp>
        <p:nvSpPr>
          <p:cNvPr id="14" name="Text 12"/>
          <p:cNvSpPr/>
          <p:nvPr/>
        </p:nvSpPr>
        <p:spPr>
          <a:xfrm>
            <a:off x="6812280" y="21031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業界長年引用的經驗值——重點是方向，不是小數點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方向：多數成交在多次跟進之後；多數人太早放棄</a:t>
            </a:r>
            <a:endParaRPr lang="en-US" sz="1438"/>
          </a:p>
        </p:txBody>
      </p:sp>
      <p:sp>
        <p:nvSpPr>
          <p:cNvPr id="15" name="Shape 13"/>
          <p:cNvSpPr/>
          <p:nvPr/>
        </p:nvSpPr>
        <p:spPr>
          <a:xfrm>
            <a:off x="548640" y="4087368"/>
            <a:ext cx="11091672" cy="1828800"/>
          </a:xfrm>
          <a:prstGeom prst="roundRect">
            <a:avLst>
              <a:gd name="adj" fmla="val 5000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04672" y="427024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紀律的系統化：一條鐵律</a:t>
            </a:r>
            <a:endParaRPr lang="en-US" sz="1782"/>
          </a:p>
        </p:txBody>
      </p:sp>
      <p:sp>
        <p:nvSpPr>
          <p:cNvPr id="17" name="Text 15"/>
          <p:cNvSpPr/>
          <p:nvPr/>
        </p:nvSpPr>
        <p:spPr>
          <a:xfrm>
            <a:off x="822960" y="4709160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每一筆進行中的商機，都必須有「下一個活動」——完成一個，立刻排下一個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等一下實作的「完成，排期下一活動」按鈕，就是這條鐵律的自動化</a:t>
            </a:r>
            <a:endParaRPr lang="en-US" sz="1438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1035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㉓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跟進節奏設計：追多勤才專業而不擾人？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59</a:t>
            </a:r>
            <a:endParaRPr lang="en-US" sz="1035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70845"/>
              </p:ext>
            </p:extLst>
          </p:nvPr>
        </p:nvGraphicFramePr>
        <p:xfrm>
          <a:off x="548640" y="1481328"/>
          <a:ext cx="11091672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時點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動作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訊息重點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D+0 當天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感謝＋摘要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電子郵件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重述需求與下一步，附型錄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D+3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第一次跟進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語音通話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確認收到、回答疑問、約試喝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D+7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價值推進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電子郵件＋樣品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送樣或案例分享，非「催單」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D+14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決策確認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語音通話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確認決策時程與障礙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D+30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節奏降頻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電子郵件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轉入每月保溫；標記優先等級調降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節奏因產業而異——重點是「寫成明文、排進系統」，而不是各憑手感。這張表就是嘉禾版的起點。</a:t>
            </a:r>
            <a:endParaRPr lang="en-US" sz="1495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3-1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建立聯絡人：公司與窗口的階層關係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開啟聯絡人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主選單 ▸ 聯絡人 ▸ 「新增」▸ 類型選「公司」▸ 名稱：台塑企業 → 儲存。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聯絡人 ▸ 新增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掛上窗口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在台塑卡片內新增聯絡人：王采購（工作職位：採購經理，填電話與電子郵件）。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 ▸ 新增聯絡人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回商機確認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打開台塑商機：客戶欄掛的是「公司」，點開可見窗口與所有往來。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客戶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常見錯誤：把窗口建成一家獨立公司——窗口會換人，公司關係要留下；階層建對，交接才交得動。</a:t>
            </a:r>
            <a:endParaRPr lang="en-US" sz="1495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3-1b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把嘉禾通訊錄補齊：欄位的最低標準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61</a:t>
            </a:r>
            <a:endParaRPr lang="en-US" sz="1035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9110892"/>
              </p:ext>
            </p:extLst>
          </p:nvPr>
        </p:nvGraphicFramePr>
        <p:xfrm>
          <a:off x="548640" y="1481328"/>
          <a:ext cx="11091672" cy="31089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欄位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為什麼重要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嘉禾範例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工作職位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決策鏈分析的基礎（承辦≠拍板者）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採購經理／福委會主委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電話・行動電話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活動撥號、行動端一鍵撥打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02-xxxx／09xx-xxx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電子郵件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電子郵件歸檔與「類似潛在客戶」比對的鑰匙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wang@fpc.com.tw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標籤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客戶分群：VIP／通路商／媒體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企業採購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212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小任務（2 分鐘）：替其餘五家客戶各建一位窗口（姓名職稱自編，電子郵件可先留空）。</a:t>
            </a:r>
            <a:endParaRPr lang="en-US" sz="1438"/>
          </a:p>
        </p:txBody>
      </p:sp>
      <p:sp>
        <p:nvSpPr>
          <p:cNvPr id="8" name="Shape 5"/>
          <p:cNvSpPr/>
          <p:nvPr/>
        </p:nvSpPr>
        <p:spPr>
          <a:xfrm>
            <a:off x="548640" y="5623560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804672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電子郵件欄位是整個第三節的隱形主角：歸檔、比對、通知全靠它。</a:t>
            </a:r>
            <a:endParaRPr lang="en-US" sz="1495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3-2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安排活動：把「下一步」寫進系統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從商機安排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打開台塑商機 ▸ 點「活動」▸ 安排活動。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活動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第一個活動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類型：語音通話；到期日：明天；指派給自己；摘要：確認試喝意願。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語音通話 ▸ 明天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第二個活動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再排一個：會議，下週三，摘要：送樣簡報。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 ▸ 下週三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5449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51937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檢查鈴鐺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504688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右上活動鈴鐺出現你的待辦——所有商機的下一步，集中在一處。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544982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活動鈴鐺</a:t>
            </a:r>
            <a:endParaRPr lang="en-US" sz="1265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㉔＋實作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活動類型盤點：用你產業的動詞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系統內建活動類型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電郵｜語音通話｜會議｜待辦事項｜上載文件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每種類型可設預設天數與提醒——「語音通話」預設隔 X 天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類型統一，第五節「活動量分析」才有意義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動手：新增嘉禾專屬類型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路徑：配置 ▸ 活動類型 ▸ 新增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建立「送樣試喝」：安排天數 3 天、圖示任選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回商機的安排活動選單：新類型已可選用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「送樣試喝」是嘉禾的關鍵動作，值得成為一種正式的活動類型——你的產業關鍵動作是什麼？</a:t>
            </a:r>
            <a:endParaRPr lang="en-US" sz="1495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3-3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活動燈號與「完成，排期下一活動」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看懂燈號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看板卡片右下彩點：綠＝排在未來、黃＝今天到期、紅＝已逾期。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 ▸ 彩點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完成活動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打開台塑的「語音通話」：按「標記完成」——記得寫一行結果摘要。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 ▸ 標記完成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完成並接力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改用「完成，排期下一活動」：完成的同時直接排下一步——跟進紀律的引擎。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完成，排期下一活動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主管掃看板 10 秒：紅點多的人不是最忙的人，是最需要幫忙的人。</a:t>
            </a:r>
            <a:endParaRPr lang="en-US" sz="1495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3-3b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我的活動總覽：業務每天的第一個畫面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打開我的活動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▸ 銷售 ▸ 我的活動：所有商機的待辦，依逾期／今天／未來排列。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 ▸ 我的活動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活動視圖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視圖切換中的「活動」檢視：一列一商機、一欄一活動類型，全貌一目瞭然。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 ▸ 活動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建立晨間儀式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建議節奏：每天上工先清「紅點」、再排「今天」、最後掃「明天」。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10 分鐘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當「我的活動」變成業務每天打開的第一個畫面，CRM 就從「幫公司填表」變成「幫自己排程」——導入就成了一半。</a:t>
            </a:r>
            <a:endParaRPr lang="en-US" sz="1495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3-4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訊息紀錄：讓案子的完整歷史，長在案子上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備註（對內）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台塑商機下方 ▸「備註」：寫一句內部筆記，例如「對方在意包裝質感」——客戶看不到。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備註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發送訊息（對外）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「發送訊息」分頁：寄給客戶的正式往來（下一個實作會實際寄出）。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發送訊息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分清楚兩者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備註＝內部便利貼；發送訊息＝對外信件。混用會把內部評語寄給客戶——真實事故常見榜首。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 vs 發送訊息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打開任何商機往下捲＝重播整個案子的人生。這就是「組織記憶」的具體長相。</a:t>
            </a:r>
            <a:endParaRPr lang="en-US" sz="1495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3-4b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@提及與關注人：把對的人拉進對的案子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67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@提及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備註中輸入「@」選同事（課堂可 @自己）：對方會收到通知，直達這筆商機。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 ▸ @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關注人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商機右上「關注人」：加入後，此案的訊息動態會推送給他——主管盯大案的正確姿勢。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關注人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兩兩互教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與鄰座互相解說一次 @提及與關注人的差別——用教的最記得住。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小演練 1 分鐘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轉寄信＋CC 大隊的時代結束了：討論就發生在案子上，新加入的人往上捲就能接手。</a:t>
            </a:r>
            <a:endParaRPr lang="en-US" sz="1495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3-5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電子郵件整合：寄信、回信自動歸檔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從商機寄信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台塑商機 ▸ 發送訊息 ▸ 收件人填「你自己的信箱」→ 送出（模擬寄給客戶）。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發送訊息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檢查收信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到自己信箱收信（延遲 1–2 分鐘屬正常；先查垃圾郵件）。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個人信箱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直接回信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在信箱按「回覆」寫幾個字送出 → 回 Odoo 重新整理：回信自動掛回同一筆商機。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 ▸ 商機歸檔</a:t>
            </a:r>
            <a:endParaRPr lang="en-US" sz="1265"/>
          </a:p>
        </p:txBody>
      </p:sp>
      <p:sp>
        <p:nvSpPr>
          <p:cNvPr id="21" name="Text 19"/>
          <p:cNvSpPr/>
          <p:nvPr/>
        </p:nvSpPr>
        <p:spPr>
          <a:xfrm>
            <a:off x="566928" y="525780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＊ 免費資料庫有每日外寄郵件上限，課堂測試綽綽有餘；大量行銷寄送屬另外的付費服務。</a:t>
            </a:r>
            <a:endParaRPr lang="en-US" sz="1265"/>
          </a:p>
        </p:txBody>
      </p:sp>
      <p:sp>
        <p:nvSpPr>
          <p:cNvPr id="22" name="Shape 20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804672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 CRM 與 Excel 的分水嶺：Excel 存「結果」，CRM 存「過程」——而且自動存。</a:t>
            </a:r>
            <a:endParaRPr lang="en-US" sz="1495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㉕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回信為什麼會自己歸檔？兩分鐘看懂機制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150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每個資料庫有專屬網域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你的系統對外寄信時，寄件位址掛在「你的名稱.odoo.com」網域下。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29946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75234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回覆位址內含案件線索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3063240"/>
            <a:ext cx="10415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系統寄出的每封信，回覆位址都能對應回「是哪一筆商機」。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417423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931920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收到回信 → 自動掛回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4242816"/>
            <a:ext cx="104150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客戶按「回覆」，系統依對應關係把信掛回原商機的訊息紀錄——不必任何人手動轉存。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212080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管理涵義</a:t>
            </a:r>
            <a:endParaRPr lang="en-US" sz="1782"/>
          </a:p>
        </p:txBody>
      </p:sp>
      <p:sp>
        <p:nvSpPr>
          <p:cNvPr id="20" name="Text 18"/>
          <p:cNvSpPr/>
          <p:nvPr/>
        </p:nvSpPr>
        <p:spPr>
          <a:xfrm>
            <a:off x="822960" y="5650992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正式導入時可設定公司自有網域與收發整合——「業務私人信箱裡的客戶往來」從此有解</a:t>
            </a:r>
            <a:endParaRPr lang="en-US" sz="1438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22" name="Text 20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69</a:t>
            </a:r>
            <a:endParaRPr lang="en-US" sz="1035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㉖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贏輸分析：輸掉的單，是付費買來的市場情報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70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429000"/>
          </a:xfrm>
          <a:prstGeom prst="roundRect">
            <a:avLst>
              <a:gd name="adj" fmla="val 2667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為什麼要認真記「損失」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損失不是失敗紀錄，是最真實的市場回饋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前提：有紀錄「為什麼輸」，且分類一致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按月看「損失原因 × 金額」＝產品與定價策略的體檢表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429000"/>
          </a:xfrm>
          <a:prstGeom prst="roundRect">
            <a:avLst>
              <a:gd name="adj" fmla="val 2667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常見損失原因分類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價格過高｜規格不符｜時程配合不上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選擇競爭者（記下是誰！）｜客戶預算取消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原因請用「選單」不用自由填寫——否則無法統計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管理者每季問一次：我們最常輸給誰？輸在什麼原因？金額多大？——沒有損失資料，這三題全靠印象。</a:t>
            </a:r>
            <a:endParaRPr lang="en-US" sz="1495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第三節・理論 ㉗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贏輸Review月會：30 分鐘的固定議程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71</a:t>
            </a:r>
            <a:endParaRPr lang="en-US" sz="1035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10041"/>
              </p:ext>
            </p:extLst>
          </p:nvPr>
        </p:nvGraphicFramePr>
        <p:xfrm>
          <a:off x="548640" y="1481328"/>
          <a:ext cx="11091672" cy="28346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看什麼資料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本月成交盤點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成交清單＋金額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成功模式一句話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損失解剖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損失原因 × 金額（第五節報表）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前兩大損因＋對策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競爭者雷達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「選擇競爭者」案清單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競品動態與應對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行動決議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下月要改的一件事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Review的紀律：對事不對人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——會議目的是「改流程與定價」，不是「檢討輸單的業務」，否則沒人敢誠實記原因。</a:t>
            </a:r>
            <a:endParaRPr lang="en-US" sz="1495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3-6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標記成交與已損失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成交一單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打開「中鋼福委會」商機 ▸ 點上方「成交」按鈕——恭喜成交 26 萬。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成交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損失一單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打開「誠品聯名」商機 ▸ 點「已損失」。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已損失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選損失原因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原因選「價格過高」（清單沒有就現場新增），備註補一句說明 → 確認。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損失原因 ▸ 確認</a:t>
            </a:r>
            <a:endParaRPr lang="en-US" sz="1265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第三節・實作 3-6b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找回與還原：損失不是刪除，是歸檔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損失單去哪了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看板預設隱藏已損失商機——它沒有被刪除，只是被歸檔。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看板 ▸ 預設隱藏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篩選找回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搜尋列 ▸ 篩選 ▸「已損失」：誠品案重新現身（卡片有標記）。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 ▸ 已損失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還原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打開誠品案 ▸ 按「還原」再標回已損失（練習用）——客戶回頭時，整段歷史還在。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還原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「刪掉輸單」是資料紀律的大忌：刪掉的不是失敗，是下一次談判的情報。</a:t>
            </a:r>
            <a:endParaRPr lang="en-US" sz="1495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第三節・小演練（8 分鐘）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完整跑一單：玉山銀行 VIP 禮盒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2547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安排並完成通話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為玉山案安排「語音通話」→ 用「完成，排期下一活動」勾掉。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481682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272582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573122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安排並完成會議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2884018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接續排「會議：送樣簡報」→ 標記完成。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482035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7261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573475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記錄客戶需求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3884371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備註：「客戶要求改用木盒包裝，單價需重議」。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4482389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472653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0" name="Text 18"/>
          <p:cNvSpPr/>
          <p:nvPr/>
        </p:nvSpPr>
        <p:spPr>
          <a:xfrm>
            <a:off x="1225296" y="4573829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寄出一封訊息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1225296" y="4884725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發送訊息給自己的信箱，主旨自訂。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548640" y="5482742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13232" y="5726887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95"/>
          </a:p>
        </p:txBody>
      </p:sp>
      <p:sp>
        <p:nvSpPr>
          <p:cNvPr id="24" name="Text 22"/>
          <p:cNvSpPr/>
          <p:nvPr/>
        </p:nvSpPr>
        <p:spPr>
          <a:xfrm>
            <a:off x="1225296" y="5574182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收單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1225296" y="5885078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將商機標記「成交」——完成後，商機頁的訊息紀錄應留下一條完整可重播的歷程。</a:t>
            </a:r>
            <a:endParaRPr lang="en-US" sz="138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第三節・對照組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同一筆商機的兩種人生：資料品質決定管理品質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75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壞資料版：玉山案（常見現場）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預期收入：空白｜預期結束：空白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活動：無｜訊息紀錄：無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主管問進度 → 「我再確認一下」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業務離職 → 案子直接歸零重談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931920"/>
          </a:xfrm>
          <a:prstGeom prst="roundRect">
            <a:avLst>
              <a:gd name="adj" fmla="val 2326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好資料版：玉山案（你剛完成的）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萬・預期結束日明確・階段「提案」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通話＋會議完成紀錄、木盒需求備註、往來電子郵件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主管自己打開 30 秒看完全貌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任何人接手，往上捲就能無縫續談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兩者的差別不是軟體功能，是 5 分鐘的輸入紀律——而這 5 分鐘，本節已證明大部分可以被系統自動化。</a:t>
            </a:r>
            <a:endParaRPr lang="en-US" sz="1495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第三節・檢核點 ③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本節檢核與管理討論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943600" cy="4709160"/>
          </a:xfrm>
          <a:prstGeom prst="roundRect">
            <a:avLst>
              <a:gd name="adj" fmla="val 1942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實作檢核：完成才算過關</a:t>
            </a:r>
            <a:endParaRPr lang="en-US" sz="1840"/>
          </a:p>
        </p:txBody>
      </p:sp>
      <p:sp>
        <p:nvSpPr>
          <p:cNvPr id="8" name="Text 6"/>
          <p:cNvSpPr/>
          <p:nvPr/>
        </p:nvSpPr>
        <p:spPr>
          <a:xfrm>
            <a:off x="868680" y="23225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9" name="Text 7"/>
          <p:cNvSpPr/>
          <p:nvPr/>
        </p:nvSpPr>
        <p:spPr>
          <a:xfrm>
            <a:off x="1389888" y="22128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聯絡人建有「公司＋窗口」階層（六家齊）</a:t>
            </a:r>
            <a:endParaRPr lang="en-US" sz="1495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1" name="Text 9"/>
          <p:cNvSpPr/>
          <p:nvPr/>
        </p:nvSpPr>
        <p:spPr>
          <a:xfrm>
            <a:off x="1389888" y="292608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活動會排、會完成、會接力；燈號看得懂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3" name="Text 11"/>
          <p:cNvSpPr/>
          <p:nvPr/>
        </p:nvSpPr>
        <p:spPr>
          <a:xfrm>
            <a:off x="1389888" y="363931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2 筆成交（中鋼、玉山）、1 筆已損失（誠品，含原因）</a:t>
            </a:r>
            <a:endParaRPr lang="en-US" sz="1495"/>
          </a:p>
        </p:txBody>
      </p:sp>
      <p:sp>
        <p:nvSpPr>
          <p:cNvPr id="14" name="Shape 12"/>
          <p:cNvSpPr/>
          <p:nvPr/>
        </p:nvSpPr>
        <p:spPr>
          <a:xfrm>
            <a:off x="6720840" y="1481328"/>
            <a:ext cx="4919472" cy="4709160"/>
          </a:xfrm>
          <a:prstGeom prst="roundRect">
            <a:avLst>
              <a:gd name="adj" fmla="val 1942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76872" y="1700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討論（3 分鐘）</a:t>
            </a:r>
            <a:endParaRPr lang="en-US" sz="1840"/>
          </a:p>
        </p:txBody>
      </p:sp>
      <p:sp>
        <p:nvSpPr>
          <p:cNvPr id="16" name="Text 14"/>
          <p:cNvSpPr/>
          <p:nvPr/>
        </p:nvSpPr>
        <p:spPr>
          <a:xfrm>
            <a:off x="6976872" y="2231136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「活動量」該不該當 KPI？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6976872" y="3081528"/>
            <a:ext cx="4407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系統能輕易統計每位銷售人員的通話數、拜訪數。</a:t>
            </a:r>
            <a:endParaRPr lang="en-US" sz="1438"/>
          </a:p>
          <a:p>
            <a:pPr marL="0" indent="0">
              <a:buNone/>
            </a:pP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正方：過程指標可管理、可早期介入。</a:t>
            </a: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反方：為了衝量而灌水，資料反而失真。</a:t>
            </a:r>
            <a:endParaRPr lang="en-US" sz="1438"/>
          </a:p>
          <a:p>
            <a:pPr marL="0" indent="0">
              <a:buNone/>
            </a:pP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你會怎麼設計，讓指標引導行為而不是扭曲行為？</a:t>
            </a:r>
            <a:endParaRPr lang="en-US" sz="1438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60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850" b="1">
                <a:solidFill>
                  <a:srgbClr val="0C47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185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554480" cy="402336"/>
          </a:xfrm>
          <a:prstGeom prst="roundRect">
            <a:avLst>
              <a:gd name="adj" fmla="val 36364"/>
            </a:avLst>
          </a:prstGeom>
          <a:solidFill>
            <a:srgbClr val="0D4650"/>
          </a:solidFill>
          <a:ln w="9525">
            <a:solidFill>
              <a:srgbClr val="15647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節</a:t>
            </a:r>
            <a:endParaRPr lang="en-US" sz="161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智慧功能：</a:t>
            </a:r>
            <a:endParaRPr lang="en-US" sz="4600"/>
          </a:p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評分、預測與 AI</a:t>
            </a:r>
            <a:endParaRPr lang="en-US" sz="460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讓系統幫你排序時間、預估未來——並認清 AI 的能與不能</a:t>
            </a:r>
            <a:endParaRPr lang="en-US" sz="184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1078992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85800" y="4983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03:00 – 03:55　　</a:t>
            </a: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本節內容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ABC 分級・評分四型・RFM・銷售預測・預測潛在客戶評分・預測視圖・損失原因自訂・行動裝置</a:t>
            </a:r>
            <a:endParaRPr lang="en-US" sz="161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77</a:t>
            </a:r>
            <a:endParaRPr lang="en-US" sz="1035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㉘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先分級，再評分：兩件事管的對象不同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ABC 分級：管「存量客戶」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級：前 20% 客戶，常貢獻 60–80% 營收——資深業務＋主管定期拜訪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級：中堅客戶——標準服務節奏，找升級機會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級：長尾客戶——低成本自動化維繫（電子郵件、電商）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評分：管「流量商機」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對象是「進行中的商機與名單」，不是老客戶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目的：50 筆商機、8 小時，先打給誰？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本節的「預測潛在客戶評分」就是這件事的自動化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分級決定「服務資源怎麼配」，評分決定「業務時間怎麼排」——兩張表都需要 CRM 的資料才算得出來。</a:t>
            </a:r>
            <a:endParaRPr lang="en-US" sz="1495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㉙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線索評分四型：從人工打分到機器學習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顯性評分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看「他是誰」：職稱、產業、公司規模——名片上讀得到的條件。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6213348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32804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6981444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隱性評分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6451092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看「他做了什麼」：開信、點選、下載型錄、索取樣品——行為訊號。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7947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1316736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規則式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786384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人工訂分：職稱是採購 +10、無預算 −20——透明好懂，但要人維護。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6213348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32804" y="37947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6981444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預測式（本節主角）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6451092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用歷史成交／損失資料訓練模型，自動估「成功率」——資料愈多愈準。</a:t>
            </a:r>
            <a:endParaRPr lang="en-US" sz="1380"/>
          </a:p>
        </p:txBody>
      </p:sp>
      <p:sp>
        <p:nvSpPr>
          <p:cNvPr id="22" name="Text 20"/>
          <p:cNvSpPr/>
          <p:nvPr/>
        </p:nvSpPr>
        <p:spPr>
          <a:xfrm>
            <a:off x="566928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Odoo 的「預測潛在客戶評分」屬第四型：吃你資料庫裡的贏輸歷史——所以第三節的紀律，就是本節的燃料。</a:t>
            </a:r>
            <a:endParaRPr lang="en-US" sz="1438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㉚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RFM 模型：三個維度替客戶打分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</a:t>
            </a:r>
            <a:endParaRPr lang="en-US" sz="1035"/>
          </a:p>
        </p:txBody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444021"/>
              </p:ext>
            </p:extLst>
          </p:nvPr>
        </p:nvGraphicFramePr>
        <p:xfrm>
          <a:off x="548640" y="1481328"/>
          <a:ext cx="11091672" cy="263347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維度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意義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嘉禾的算法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分箱（1–5 分）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R 最近性 Recency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最近一次往來距今多久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最近一次採購距今月數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愈近分數愈高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 頻率 Frequency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一段期間內往來幾次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近兩年採購次數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愈多分數愈高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 金額 Monetary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累計貢獻金額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近兩年採購總額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愈大分數愈高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114800"/>
            <a:ext cx="11091672" cy="1600200"/>
          </a:xfrm>
          <a:prstGeom prst="roundRect">
            <a:avLst>
              <a:gd name="adj" fmla="val 571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4338828"/>
            <a:ext cx="10579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讀法示例</a:t>
            </a:r>
            <a:endParaRPr lang="en-US" sz="1782"/>
          </a:p>
        </p:txBody>
      </p:sp>
      <p:sp>
        <p:nvSpPr>
          <p:cNvPr id="9" name="Text 6"/>
          <p:cNvSpPr/>
          <p:nvPr/>
        </p:nvSpPr>
        <p:spPr>
          <a:xfrm>
            <a:off x="822960" y="477774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台塑：R5・F4・M5 → RFM=545，典型 A 級——續約季主動出擊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某沉睡客：R1・F3・M4 → 高價值但久未往來——「喚醒名單」第一順位</a:t>
            </a:r>
            <a:endParaRPr lang="en-US" sz="1438"/>
          </a:p>
        </p:txBody>
      </p:sp>
      <p:sp>
        <p:nvSpPr>
          <p:cNvPr id="10" name="Shape 7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804672" y="5715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RFM 只需要交易紀錄就能算——是中小企業「第一個買得起」的分析模型。</a:t>
            </a:r>
            <a:endParaRPr lang="en-US" sz="1495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㉛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評分模型怎麼建：五步驟，一季一輪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725473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定義 ICP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理想客戶輪廓：哪種產業、規模、情境的客戶，我們贏率最高、毛利最好？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481682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272582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573122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挑變數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2884018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從顯性（產業、職稱）與隱性（索樣、回信速度）各挑 3–5 個。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482035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37261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573475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給權重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3884371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先用團隊共識粗訂；別追求一次完美。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4482389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13232" y="472653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0" name="Text 18"/>
          <p:cNvSpPr/>
          <p:nvPr/>
        </p:nvSpPr>
        <p:spPr>
          <a:xfrm>
            <a:off x="1225296" y="4573829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驗證回測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1225296" y="4884725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拿過去一季的贏輸資料驗證：高分群的實際成交率有沒有比較高？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548640" y="5482742"/>
            <a:ext cx="11091672" cy="872338"/>
          </a:xfrm>
          <a:prstGeom prst="roundRect">
            <a:avLst>
              <a:gd name="adj" fmla="val 8386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713232" y="5726887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95"/>
          </a:p>
        </p:txBody>
      </p:sp>
      <p:sp>
        <p:nvSpPr>
          <p:cNvPr id="24" name="Text 22"/>
          <p:cNvSpPr/>
          <p:nvPr/>
        </p:nvSpPr>
        <p:spPr>
          <a:xfrm>
            <a:off x="1225296" y="5574182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⑤ 每季迭代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1225296" y="5885078"/>
            <a:ext cx="10415016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汰換無效變數、調整權重——模型是活的，市場也是。</a:t>
            </a:r>
            <a:endParaRPr lang="en-US" sz="138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㉜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銷售預測兩條路：由下而上 vs 由上而下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Bottom-up 由下而上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逐筆商機：Σ（預期收入 × 成功率）＝加權漏斗值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第二節你算的 68 萬，就是它的手工版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優點：貼近現實、可追溯到每一筆；缺點：仰賴輸入紀律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Top-down 由上而下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市場規模 × 目標市占 ＝ 營收目標，再往下拆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用於年度規劃與資源配置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優點：策略視角；缺點：離第一線太遠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成熟團隊兩條都算：差距太大，就是該追問的訊號——是目標訂太夢幻，還是漏斗灌了水？</a:t>
            </a:r>
            <a:endParaRPr lang="en-US" sz="1495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㉝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預測準不準，要量：偏差率與覆盤節奏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量什麼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偏差率＝（月初預測 − 月底實際）÷ 月底實際。正值＝樂觀灌水，負值＝保守藏單。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779776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怎麼記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3090672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 1 日把「預測視圖」的當月合計截圖存檔；月底對實際成交。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98678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怎麼用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429768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連續三個月偏差超過 ±20%：檢討的不是業務，是「成功率與結案日的輸入紀律」。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預測文化的成熟標誌：會議上敢報壞消息、且壞消息有數字——藏單與灌水，都是紀律問題不是能力問題。</a:t>
            </a:r>
            <a:endParaRPr lang="en-US" sz="1495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4-1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開啟預測潛在客戶評分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進入設定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上方選單 配置 ▸ 設定，找到「預測潛在客戶評分」區塊。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 ▸ 設定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更新概率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點「更新概率」：勾選模型採計的欄位（來源、階段、電子郵件品質…）→ 確認。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更新概率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回商機觀察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打開任一商機：「成功率」欄出現系統自動估的數值。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成功率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管理啟示：AI 要吃「歷史成交／損失資料」才會準——資料紀律是 AI 的前提，不是 AI 替代資料紀律。</a:t>
            </a:r>
            <a:endParaRPr lang="en-US" sz="1495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4-1b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成功率的兩種來源：系統估 vs 人工判斷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85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觀察自動值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打開「台積電尾牙」案：成功率為系統自動估（課堂資料少，數值僅示意）。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台積電案 ▸ 成功率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手動覆寫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把成功率改成 80（你剛陪訪過，判斷樂觀）：欄位旁出現切換標記＝已鎖定為人工值。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成功率 ▸ 80%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切回自動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點切換標記可交還系統自動估——人與模型，隨時可以換手。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 自動／手動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設計哲學值得學：系統給預設、人保留否決權、且「誰改的」留有痕跡——這就是好的人機分工。</a:t>
            </a:r>
            <a:endParaRPr lang="en-US" sz="1495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4-2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預測（Forecast）視圖：按月看未來的錢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開啟預測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上方選單 報告 ▸ 預測。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 ▸ 預測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看懂分欄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商機依「預期結束」月份分欄；每欄上方顯示該月合計。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依月份分欄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拖卡改期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把玉山案拖到下一個月＝直接更新它的預期結束日期。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拖曳卡片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5449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51937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切換量度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504688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量度選「預期收入」，觀察各月金額變化。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544982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量度 ▸ 預期收入</a:t>
            </a:r>
            <a:endParaRPr lang="en-US" sz="1265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4-2b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用預測視圖開月會：三分鐘現場模擬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87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投影本月欄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主持人投影預測視圖，指著本月合計：「這是我們月底的承諾。」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 ▸ 本月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逐案問證據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對每張卡片問同一句：「這案憑什麼放在這個月？」——答不出就當場拖到下月。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逐案檢視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散會即更新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會開完，系統已是最新狀態——不需要另外的會議紀錄與 Excel。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即時同步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預測會議的品質革命：從「喊數字」變成「查證據」——而證據，就是第三節你們留下的活動與訊息紀錄。</a:t>
            </a:r>
            <a:endParaRPr lang="en-US" sz="1495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4-3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把系統調成你的語言：自訂損失原因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新增原因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 ▸ 損失原因 ▸ 新增：「包裝不符需求」「時程延後」——用你產業的語言，統計才有意義。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配置 ▸ 損失原因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實際用一次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把「晶華酒店」標記「已損失」，原因選「包裝不符需求」（等一下用手機還原它）。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晶華案 ▸ 已損失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分類紀律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原因清單全公司統一維護；「其他」超過兩成＝分類該檢討了。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季度檢視</a:t>
            </a:r>
            <a:endParaRPr lang="en-US" sz="1265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4-3b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重複偵測：類似潛在客戶與合併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製造一筆重複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新增商機「台塑年節禮盒(重複)」，客戶同樣選台塑企業。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新增 ▸ 同客戶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類似潛在客戶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打開任一台塑案：右上出現「類似潛在客戶」智慧按鈕（依同客戶／同電子郵件比對）。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▸ 類似潛在客戶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切到清單勾選兩筆台塑案 ▸ 動作 ▸ 合併：彙整成一筆，訊息與活動歷史一併保留。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 ▸ 動作 ▸ 合併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兩個業務同時追同一家客戶而不自知——是名單制公司最貴的浪費；重複偵測就是這題的保險絲。</a:t>
            </a:r>
            <a:endParaRPr lang="en-US" sz="1495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㉞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走進 CRM：Odoo 19 的現況與管理者的判斷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2697480"/>
          </a:xfrm>
          <a:prstGeom prst="roundRect">
            <a:avLst>
              <a:gd name="adj" fmla="val 305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評分與指派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預測成功率之外，潛在商機可依規則＋AI 輔助自動分派給合適的銷售人員。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2697480"/>
          </a:xfrm>
          <a:prstGeom prst="roundRect">
            <a:avLst>
              <a:gd name="adj" fmla="val 305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 寫作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電子郵件草稿、商機摘要一鍵生成；名片拍照自動建檔。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2697480"/>
          </a:xfrm>
          <a:prstGeom prst="roundRect">
            <a:avLst>
              <a:gd name="adj" fmla="val 3051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代理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Odoo 19.x 陸續強化：讀文件建資料、自然語言查詢、會議轉錄。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1091672" cy="1280160"/>
          </a:xfrm>
          <a:prstGeom prst="roundRect">
            <a:avLst>
              <a:gd name="adj" fmla="val 7143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68680" y="4727448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管理視角　</a:t>
            </a: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消滅的是「輸入與整理」的工，不是「判斷與關係」的活。當摘要與草稿都自動生成，主管的價值移到：問對問題、查證假設、決定取捨。（部分 AI 功能屬付費或額度制，導入前以官網為準。）</a:t>
            </a:r>
            <a:endParaRPr lang="en-US" sz="1495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21" name="Text 19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</a:t>
            </a:r>
            <a:endParaRPr lang="en-US" sz="1035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㉟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生成式 AI 的六個銷售落點：省的是哪種工？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電子郵件草稿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跟進信、報價說明一鍵起草——人只做「改與判斷」。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4325112" y="1481328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44568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5093208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商機摘要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4562856" y="223113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長篇往來自動濃縮——交接與主管快讀神器。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8101584" y="1481328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321040" y="16824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8869680" y="1682496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名片建檔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8339328" y="2231136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拍照 → 自動辨識建立聯絡人——展會後的救星。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3456432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68096" y="365760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1316736" y="365760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會議轉錄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786384" y="420624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拜訪錄音轉文字掛回商機——「當下輸入」的終極型。</a:t>
            </a:r>
            <a:endParaRPr lang="en-US" sz="1380"/>
          </a:p>
        </p:txBody>
      </p:sp>
      <p:sp>
        <p:nvSpPr>
          <p:cNvPr id="22" name="Shape 20"/>
          <p:cNvSpPr/>
          <p:nvPr/>
        </p:nvSpPr>
        <p:spPr>
          <a:xfrm>
            <a:off x="4325112" y="3456432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44568" y="3657600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725"/>
          </a:p>
        </p:txBody>
      </p:sp>
      <p:sp>
        <p:nvSpPr>
          <p:cNvPr id="24" name="Text 22"/>
          <p:cNvSpPr/>
          <p:nvPr/>
        </p:nvSpPr>
        <p:spPr>
          <a:xfrm>
            <a:off x="5093208" y="365760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自然語言查詢</a:t>
            </a:r>
            <a:endParaRPr lang="en-US" sz="1667"/>
          </a:p>
        </p:txBody>
      </p:sp>
      <p:sp>
        <p:nvSpPr>
          <p:cNvPr id="25" name="Text 23"/>
          <p:cNvSpPr/>
          <p:nvPr/>
        </p:nvSpPr>
        <p:spPr>
          <a:xfrm>
            <a:off x="4562856" y="420624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「上季輸給誰最多？」直接用問的。</a:t>
            </a:r>
            <a:endParaRPr lang="en-US" sz="1380"/>
          </a:p>
        </p:txBody>
      </p:sp>
      <p:sp>
        <p:nvSpPr>
          <p:cNvPr id="26" name="Shape 24"/>
          <p:cNvSpPr/>
          <p:nvPr/>
        </p:nvSpPr>
        <p:spPr>
          <a:xfrm>
            <a:off x="8101584" y="3456432"/>
            <a:ext cx="3538728" cy="1737360"/>
          </a:xfrm>
          <a:prstGeom prst="roundRect">
            <a:avLst>
              <a:gd name="adj" fmla="val 4737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8321040" y="365760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725"/>
          </a:p>
        </p:txBody>
      </p:sp>
      <p:sp>
        <p:nvSpPr>
          <p:cNvPr id="28" name="Text 26"/>
          <p:cNvSpPr/>
          <p:nvPr/>
        </p:nvSpPr>
        <p:spPr>
          <a:xfrm>
            <a:off x="8869680" y="365760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智慧指派</a:t>
            </a:r>
            <a:endParaRPr lang="en-US" sz="1667"/>
          </a:p>
        </p:txBody>
      </p:sp>
      <p:sp>
        <p:nvSpPr>
          <p:cNvPr id="29" name="Text 27"/>
          <p:cNvSpPr/>
          <p:nvPr/>
        </p:nvSpPr>
        <p:spPr>
          <a:xfrm>
            <a:off x="8339328" y="4206240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新名單依規則＋AI 建議分給對的人。</a:t>
            </a:r>
            <a:endParaRPr lang="en-US" sz="1380"/>
          </a:p>
        </p:txBody>
      </p:sp>
      <p:sp>
        <p:nvSpPr>
          <p:cNvPr id="30" name="Text 28"/>
          <p:cNvSpPr/>
          <p:nvPr/>
        </p:nvSpPr>
        <p:spPr>
          <a:xfrm>
            <a:off x="566928" y="5687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共同點：全是「輸入、整理、檢索」——正是業務最抗拒、資料最流失的環節。</a:t>
            </a:r>
            <a:endParaRPr lang="en-US" sz="1438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第四節・理論 ㊱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治理三原則：把界線先講清楚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92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排序，人決策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分數用來「排今天先打給誰」；調人力、給折扣、放棄案子——由人拍板。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1225296" y="2779776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獎金不直接掛預測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1225296" y="3090672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預測值一旦連動獎金，輸入行為立刻扭曲——獎金掛「實際成交」與「資料品質抽查」。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6" name="Text 14"/>
          <p:cNvSpPr/>
          <p:nvPr/>
        </p:nvSpPr>
        <p:spPr>
          <a:xfrm>
            <a:off x="1225296" y="3986784"/>
            <a:ext cx="1041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定期回測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1225296" y="4297680"/>
            <a:ext cx="10415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每季驗證：高分群成交率是否真的較高？失準就回頭修資料紀律，而不是關掉功能。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一句話版本：AI 給建議、人負全責、數據可稽核——這三句話，適用於你公司未來所有 AI 導入案。</a:t>
            </a:r>
            <a:endParaRPr lang="en-US" sz="1495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第四節・實作 4-4（5 分鐘）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行動裝置體驗：外勤即時輸入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手機登入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手機瀏覽器直接開「你的名稱.odoo.com」登入（帳密同電腦）；或安裝 Odoo App。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 ▸ 你的名稱.odoo.com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操作看板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 CRM ▸ 我的商機：拖卡、活動、訊息在手機上皆可操作。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▸ 我的商機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情境演練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假想剛拜訪完晶華：在手機為晶華案寫一則「備註」——「客戶重啟評估」，並按「還原」。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備註 ▸ 還原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資料品質的關鍵在「當下輸入」：回辦公室才補登，就是失真的開始——行動化不是加分題，是必要條件。</a:t>
            </a:r>
            <a:endParaRPr lang="en-US" sz="1495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第四節・檢核點 ④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本節檢核與管理討論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943600" cy="4709160"/>
          </a:xfrm>
          <a:prstGeom prst="roundRect">
            <a:avLst>
              <a:gd name="adj" fmla="val 1942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實作檢核：完成才算過關</a:t>
            </a:r>
            <a:endParaRPr lang="en-US" sz="1840"/>
          </a:p>
        </p:txBody>
      </p:sp>
      <p:sp>
        <p:nvSpPr>
          <p:cNvPr id="8" name="Text 6"/>
          <p:cNvSpPr/>
          <p:nvPr/>
        </p:nvSpPr>
        <p:spPr>
          <a:xfrm>
            <a:off x="868680" y="2322576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9" name="Text 7"/>
          <p:cNvSpPr/>
          <p:nvPr/>
        </p:nvSpPr>
        <p:spPr>
          <a:xfrm>
            <a:off x="1389888" y="221284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預測潛在客戶評分已開啟，商機看得到自動「成功率」</a:t>
            </a:r>
            <a:endParaRPr lang="en-US" sz="1495"/>
          </a:p>
        </p:txBody>
      </p:sp>
      <p:sp>
        <p:nvSpPr>
          <p:cNvPr id="10" name="Text 8"/>
          <p:cNvSpPr/>
          <p:nvPr/>
        </p:nvSpPr>
        <p:spPr>
          <a:xfrm>
            <a:off x="868680" y="3035808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1" name="Text 9"/>
          <p:cNvSpPr/>
          <p:nvPr/>
        </p:nvSpPr>
        <p:spPr>
          <a:xfrm>
            <a:off x="1389888" y="292608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會用預測視圖，並拖卡改預期結束月份</a:t>
            </a:r>
            <a:endParaRPr lang="en-US" sz="1495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725"/>
          </a:p>
        </p:txBody>
      </p:sp>
      <p:sp>
        <p:nvSpPr>
          <p:cNvPr id="13" name="Text 11"/>
          <p:cNvSpPr/>
          <p:nvPr/>
        </p:nvSpPr>
        <p:spPr>
          <a:xfrm>
            <a:off x="1389888" y="3639312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損失原因已客製；手機完成晶華案備註與還原</a:t>
            </a:r>
            <a:endParaRPr lang="en-US" sz="1495"/>
          </a:p>
        </p:txBody>
      </p:sp>
      <p:sp>
        <p:nvSpPr>
          <p:cNvPr id="14" name="Shape 12"/>
          <p:cNvSpPr/>
          <p:nvPr/>
        </p:nvSpPr>
        <p:spPr>
          <a:xfrm>
            <a:off x="6720840" y="1481328"/>
            <a:ext cx="4919472" cy="4709160"/>
          </a:xfrm>
          <a:prstGeom prst="roundRect">
            <a:avLst>
              <a:gd name="adj" fmla="val 1942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976872" y="1700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EMBA 討論（3 分鐘）</a:t>
            </a:r>
            <a:endParaRPr lang="en-US" sz="1840"/>
          </a:p>
        </p:txBody>
      </p:sp>
      <p:sp>
        <p:nvSpPr>
          <p:cNvPr id="16" name="Text 14"/>
          <p:cNvSpPr/>
          <p:nvPr/>
        </p:nvSpPr>
        <p:spPr>
          <a:xfrm>
            <a:off x="6976872" y="2231136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你會讓 AI 的分數決定資源分配嗎？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6976872" y="3081528"/>
            <a:ext cx="44074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假設系統說 A 案成功率 78%、B 案 22%。</a:t>
            </a:r>
            <a:endParaRPr lang="en-US" sz="1438"/>
          </a:p>
          <a:p>
            <a:pPr marL="0" indent="0">
              <a:buNone/>
            </a:pP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要不要因此把資深業務調去 A 案？獎金要不要跟預測掛鉤？</a:t>
            </a:r>
            <a:endParaRPr lang="en-US" sz="1438"/>
          </a:p>
          <a:p>
            <a:pPr marL="0" indent="0">
              <a:buNone/>
            </a:pPr>
            <a:endParaRPr lang="en-US" sz="1438"/>
          </a:p>
          <a:p>
            <a:pPr marL="0" indent="0">
              <a:buNone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界線在哪：AI 提供排序建議 vs. AI 直接決定——說出你的治理原則。</a:t>
            </a:r>
            <a:endParaRPr lang="en-US" sz="1438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960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1850" b="1">
                <a:solidFill>
                  <a:srgbClr val="0C47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185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554480" cy="402336"/>
          </a:xfrm>
          <a:prstGeom prst="roundRect">
            <a:avLst>
              <a:gd name="adj" fmla="val 36364"/>
            </a:avLst>
          </a:prstGeom>
          <a:solidFill>
            <a:srgbClr val="0D4650"/>
          </a:solidFill>
          <a:ln w="9525">
            <a:solidFill>
              <a:srgbClr val="156473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5 節</a:t>
            </a:r>
            <a:endParaRPr lang="en-US" sz="1610"/>
          </a:p>
        </p:txBody>
      </p:sp>
      <p:sp>
        <p:nvSpPr>
          <p:cNvPr id="4" name="Text 2"/>
          <p:cNvSpPr/>
          <p:nvPr/>
        </p:nvSpPr>
        <p:spPr>
          <a:xfrm>
            <a:off x="658368" y="2103120"/>
            <a:ext cx="8778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報表分析</a:t>
            </a:r>
            <a:endParaRPr lang="en-US" sz="4600"/>
          </a:p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與經營決策</a:t>
            </a:r>
            <a:endParaRPr lang="en-US" sz="4600"/>
          </a:p>
        </p:txBody>
      </p:sp>
      <p:sp>
        <p:nvSpPr>
          <p:cNvPr id="5" name="Text 3"/>
          <p:cNvSpPr/>
          <p:nvPr/>
        </p:nvSpPr>
        <p:spPr>
          <a:xfrm>
            <a:off x="685800" y="3703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從輸入資料的人，變成會問問題的管理者</a:t>
            </a:r>
            <a:endParaRPr lang="en-US" sz="1840"/>
          </a:p>
        </p:txBody>
      </p:sp>
      <p:sp>
        <p:nvSpPr>
          <p:cNvPr id="6" name="Shape 4"/>
          <p:cNvSpPr/>
          <p:nvPr/>
        </p:nvSpPr>
        <p:spPr>
          <a:xfrm>
            <a:off x="685800" y="4709160"/>
            <a:ext cx="1078992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85800" y="4983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04:05 – 05:00　　</a:t>
            </a:r>
            <a:r>
              <a:rPr lang="en-US" sz="161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本節內容　</a:t>
            </a:r>
            <a:r>
              <a:rPr lang="en-US" sz="1610">
                <a:solidFill>
                  <a:srgbClr val="CFEA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體系・儀表板原則・商機漏斗管理分析・樞紐分析表・最愛與匯出・綜合挑戰・導入策略</a:t>
            </a:r>
            <a:endParaRPr lang="en-US" sz="161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</a:t>
            </a:r>
            <a:endParaRPr lang="en-US" sz="1035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第五節・理論 ㊲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 KPI 體系：結果只能檢討，過程才能介入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</a:t>
            </a:r>
            <a:endParaRPr lang="en-US" sz="1035"/>
          </a:p>
        </p:txBody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52792"/>
              </p:ext>
            </p:extLst>
          </p:nvPr>
        </p:nvGraphicFramePr>
        <p:xfrm>
          <a:off x="548640" y="1481328"/>
          <a:ext cx="11091672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類別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指標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怎麼算／怎麼看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系統哪裡看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結果（落後）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營收・贏單率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贏單率＝成交數 ÷（成交＋損失）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商機漏斗管理分析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過程（領先）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新增商機數・活動量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週別走勢＋人別分佈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分組依據＋活動報表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平均銷售週期・平均單值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成交日 − 建立日；金額 ÷ 件數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樞紐分析表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健康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漏斗覆蓋率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漏斗總額 ÷ 目標 ≥ 3–4 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量度：預期收入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「新增商機數連兩週下滑」＝兩個月後的營收缺口已經注定——領先指標的價值，在於還來得及介入。</a:t>
            </a:r>
            <a:endParaRPr lang="en-US" sz="1495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第五節・理論 ㊳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指標會反噬：北極星要配「制衡指標」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97</a:t>
            </a:r>
            <a:endParaRPr lang="en-US" sz="1035"/>
          </a:p>
        </p:txBody>
      </p:sp>
      <p:graphicFrame>
        <p:nvGraphicFramePr>
          <p:cNvPr id="9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507988"/>
              </p:ext>
            </p:extLst>
          </p:nvPr>
        </p:nvGraphicFramePr>
        <p:xfrm>
          <a:off x="548640" y="1481328"/>
          <a:ext cx="11091672" cy="3200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你考核的指標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可能被玩成…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配對的制衡指標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新增商機數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灌假商機、名片全倒進系統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合格轉換率＋主管抽查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活動量（通話／拜訪）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為衝量而灌水、拆單記錄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活動 → 推進率（有沒有讓案子動）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贏單率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只挑穩贏的小案、藏難案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平均單值＋漏斗覆蓋率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成交速度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亂降價換快簽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毛利率／折扣率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古德哈特定律：當量測變成目標，它就不再是好量測——解方不是不量，是「成對地量」。</a:t>
            </a:r>
            <a:endParaRPr lang="en-US" sz="1495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第五節・理論 ㊴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儀表板設計四原則：少即是多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98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68096" y="1682496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25"/>
          </a:p>
        </p:txBody>
      </p:sp>
      <p:sp>
        <p:nvSpPr>
          <p:cNvPr id="8" name="Text 6"/>
          <p:cNvSpPr/>
          <p:nvPr/>
        </p:nvSpPr>
        <p:spPr>
          <a:xfrm>
            <a:off x="1316736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一頁一目的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786384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這頁回答哪一個管理問題？回答不出來就砍掉。</a:t>
            </a:r>
            <a:endParaRPr lang="en-US" sz="1380"/>
          </a:p>
        </p:txBody>
      </p:sp>
      <p:sp>
        <p:nvSpPr>
          <p:cNvPr id="10" name="Shape 8"/>
          <p:cNvSpPr/>
          <p:nvPr/>
        </p:nvSpPr>
        <p:spPr>
          <a:xfrm>
            <a:off x="6213348" y="1481328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32804" y="1682496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25"/>
          </a:p>
        </p:txBody>
      </p:sp>
      <p:sp>
        <p:nvSpPr>
          <p:cNvPr id="12" name="Text 10"/>
          <p:cNvSpPr/>
          <p:nvPr/>
        </p:nvSpPr>
        <p:spPr>
          <a:xfrm>
            <a:off x="6981444" y="1682496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 5±2</a:t>
            </a:r>
            <a:endParaRPr lang="en-US" sz="1667"/>
          </a:p>
        </p:txBody>
      </p:sp>
      <p:sp>
        <p:nvSpPr>
          <p:cNvPr id="13" name="Text 11"/>
          <p:cNvSpPr/>
          <p:nvPr/>
        </p:nvSpPr>
        <p:spPr>
          <a:xfrm>
            <a:off x="6451092" y="2231136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超過七個指標＝等於沒有重點；先選會「引發行動」的。</a:t>
            </a:r>
            <a:endParaRPr lang="en-US" sz="1380"/>
          </a:p>
        </p:txBody>
      </p:sp>
      <p:sp>
        <p:nvSpPr>
          <p:cNvPr id="14" name="Shape 12"/>
          <p:cNvSpPr/>
          <p:nvPr/>
        </p:nvSpPr>
        <p:spPr>
          <a:xfrm>
            <a:off x="548640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68096" y="3794760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1316736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永遠帶基準</a:t>
            </a:r>
            <a:endParaRPr lang="en-US" sz="1667"/>
          </a:p>
        </p:txBody>
      </p:sp>
      <p:sp>
        <p:nvSpPr>
          <p:cNvPr id="17" name="Text 15"/>
          <p:cNvSpPr/>
          <p:nvPr/>
        </p:nvSpPr>
        <p:spPr>
          <a:xfrm>
            <a:off x="786384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跟上月比、跟目標比、跟同期比——沒有比較就沒有意義。</a:t>
            </a:r>
            <a:endParaRPr lang="en-US" sz="1380"/>
          </a:p>
        </p:txBody>
      </p:sp>
      <p:sp>
        <p:nvSpPr>
          <p:cNvPr id="18" name="Shape 16"/>
          <p:cNvSpPr/>
          <p:nvPr/>
        </p:nvSpPr>
        <p:spPr>
          <a:xfrm>
            <a:off x="6213348" y="3593592"/>
            <a:ext cx="5426964" cy="1874520"/>
          </a:xfrm>
          <a:prstGeom prst="roundRect">
            <a:avLst>
              <a:gd name="adj" fmla="val 439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32804" y="3794760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725"/>
          </a:p>
        </p:txBody>
      </p:sp>
      <p:sp>
        <p:nvSpPr>
          <p:cNvPr id="20" name="Text 18"/>
          <p:cNvSpPr/>
          <p:nvPr/>
        </p:nvSpPr>
        <p:spPr>
          <a:xfrm>
            <a:off x="6981444" y="3794760"/>
            <a:ext cx="45125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可往下鑽</a:t>
            </a:r>
            <a:endParaRPr lang="en-US" sz="1667"/>
          </a:p>
        </p:txBody>
      </p:sp>
      <p:sp>
        <p:nvSpPr>
          <p:cNvPr id="21" name="Text 19"/>
          <p:cNvSpPr/>
          <p:nvPr/>
        </p:nvSpPr>
        <p:spPr>
          <a:xfrm>
            <a:off x="6451092" y="4343400"/>
            <a:ext cx="49514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總數異常時，兩三下點選要能鑽到「是哪幾筆」。</a:t>
            </a:r>
            <a:endParaRPr lang="en-US" sz="1380"/>
          </a:p>
        </p:txBody>
      </p:sp>
      <p:sp>
        <p:nvSpPr>
          <p:cNvPr id="22" name="Text 20"/>
          <p:cNvSpPr/>
          <p:nvPr/>
        </p:nvSpPr>
        <p:spPr>
          <a:xfrm>
            <a:off x="566928" y="56875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金句：儀表板的目的不是展示努力，而是引發下一個管理動作。</a:t>
            </a:r>
            <a:endParaRPr lang="en-US" sz="1495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第五節・理論 ㊵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三層報表架構：不同高度，看不同的圖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99</a:t>
            </a:r>
            <a:endParaRPr lang="en-US" sz="1035"/>
          </a:p>
        </p:txBody>
      </p:sp>
      <p:graphicFrame>
        <p:nvGraphicFramePr>
          <p:cNvPr id="10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167594"/>
              </p:ext>
            </p:extLst>
          </p:nvPr>
        </p:nvGraphicFramePr>
        <p:xfrm>
          <a:off x="548640" y="1481328"/>
          <a:ext cx="11091672" cy="29260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層級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頻率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核心畫面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要回答的問題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經營層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覆蓋率・預測 vs 目標・損失原因分佈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這季安不安全？輸在哪裡？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主管層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階段分佈 × 銷售人員・逾期紅點・加權值變化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誰卡住？該幫誰？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個人層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我的活動・我的商機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我今天先做哪三件事？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4924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3492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同一份資料、三個高度——這正是「單一事實來源」的價值：不再有行銷版、業務版、老闆版三套數字。</a:t>
            </a:r>
            <a:endParaRPr lang="en-US" sz="1495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第五節・理論 ㊶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用系統開週會：30 分鐘固定議程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</a:t>
            </a:r>
            <a:endParaRPr lang="en-US" sz="1035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732045"/>
              </p:ext>
            </p:extLst>
          </p:nvPr>
        </p:nvGraphicFramePr>
        <p:xfrm>
          <a:off x="548640" y="1481328"/>
          <a:ext cx="11091672" cy="30175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議程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投影哪個畫面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紅點清點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我的活動（全隊逾期）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逾期歸零承諾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漏斗走查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商機漏斗（分組依據：銷售人員）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每人一句：本週推進哪三案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大案深談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優先等級 ★ 案件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障礙與支援決議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決議入系統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現場排活動、改階段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散會＝系統已更新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規則只有一條：不在系統裡的，不討論——兩週之後，你會發現資料自己變乾淨了。</a:t>
            </a:r>
            <a:endParaRPr lang="en-US" sz="1495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第五節・實作 5-1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商機漏斗管理分析：三步做出第一張管理圖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101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開啟報表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上方選單 報告 ▸ 商機漏斗：進入「商機漏斗管理分析」。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 ▸ 商機漏斗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換量度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量度 改選「預期收入」——從「幾筆」變「幾塊錢」。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量度 ▸ 預期收入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兩層分組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分組依據 ▸ 階段；再加一層「銷售人員」。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分組依據 ▸ 階段＋銷售人員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5449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51937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切換圖形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504688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長條／折線／圓餅各看一眼：長條看分佈、折線看趨勢、圓餅看占比。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544982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圖形切換</a:t>
            </a:r>
            <a:endParaRPr lang="en-US" sz="1265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第五節・實作 5-1b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圖形判讀：三張圖，各回答一個管理問題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102</a:t>
            </a:r>
            <a:endParaRPr lang="en-US" sz="1035"/>
          </a:p>
        </p:txBody>
      </p:sp>
      <p:graphicFrame>
        <p:nvGraphicFramePr>
          <p:cNvPr id="10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841683"/>
              </p:ext>
            </p:extLst>
          </p:nvPr>
        </p:nvGraphicFramePr>
        <p:xfrm>
          <a:off x="548640" y="1481328"/>
          <a:ext cx="11091672" cy="3108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圖形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怎麼設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管理問題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判讀提示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長條圖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 × 預期收入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錢卡在哪一站？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配「停留天數」看：是健康累積還是瓶頸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圓餅圖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銷售人員 × 預期收入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業績是否過度集中一人？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單人占比 &gt; 50% ＝ 關鍵人風險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折線圖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月份 × 新增商機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開發動能升或降？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連兩期下滑＝提早兩個月的警報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4068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40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報表素養的分水嶺：看圖的人問「數字多少」，管理的人問「所以我該做什麼」。</a:t>
            </a:r>
            <a:endParaRPr lang="en-US" sz="1495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第五節・實作 5-2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樞紐分析表：把 Excel 樞紐搬進活資料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切樞紐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報表右上視圖切換 ▸ 樞紐分析表。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視圖 ▸ 樞紐分析表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設列與欄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列＝階段、欄＝預期結束（月份）、值＝量度「預期收入」。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▸ 階段／月份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往下鑽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點「展開全部」或任一格＋號展開「銷售人員」——這就是 drill-down。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展開全部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102352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13232" y="544982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95"/>
          </a:p>
        </p:txBody>
      </p:sp>
      <p:sp>
        <p:nvSpPr>
          <p:cNvPr id="23" name="Text 21"/>
          <p:cNvSpPr/>
          <p:nvPr/>
        </p:nvSpPr>
        <p:spPr>
          <a:xfrm>
            <a:off x="1225296" y="5193792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翻轉視角</a:t>
            </a:r>
            <a:endParaRPr lang="en-US" sz="1667"/>
          </a:p>
        </p:txBody>
      </p:sp>
      <p:sp>
        <p:nvSpPr>
          <p:cNvPr id="24" name="Text 22"/>
          <p:cNvSpPr/>
          <p:nvPr/>
        </p:nvSpPr>
        <p:spPr>
          <a:xfrm>
            <a:off x="1225296" y="5504688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「對調數軸」一鍵交換列欄；核對右下「總計」與看板一致。</a:t>
            </a:r>
            <a:endParaRPr lang="en-US" sz="1380"/>
          </a:p>
        </p:txBody>
      </p:sp>
      <p:sp>
        <p:nvSpPr>
          <p:cNvPr id="25" name="Text 23"/>
          <p:cNvSpPr/>
          <p:nvPr/>
        </p:nvSpPr>
        <p:spPr>
          <a:xfrm>
            <a:off x="8439912" y="5449824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對調數軸</a:t>
            </a:r>
            <a:endParaRPr lang="en-US" sz="1265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第五節・實作 5-2b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xlsx：線上看真相，離線做簡報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樞紐分析表左上「下載 xlsx」：目前的列欄配置原樣輸出成 Excel。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下載 xlsx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何時用哪個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線上樞紐＝此刻的真相（開會用）；下載檔＝定版快照（呈報、歸檔用）。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 vs 匯出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加工建議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內做格式美化、合併財務資料、貼簡報——「分析在系統、美編在 Excel」分工最省事。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加工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老習慣不必戒：Excel 依然是好工具——差別是，從今天起它拿到的是「乾淨的活資料」。</a:t>
            </a:r>
            <a:endParaRPr lang="en-US" sz="1495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第五節・實作 5-3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存成團隊的儀表板：最愛、預設、分享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儲存檢視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調好篩選與分組後：搜尋列 ▸ 最愛 ▸ 儲存目前搜尋，命名「每週漏斗檢視」。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最愛 ▸ 儲存目前搜尋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設為預設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勾「預設篩選器」：以後一打開報表就是它。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預設篩選器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分享團隊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勾「分享」：全團隊看到同一個檢視——口徑統一從這裡開始。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分享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「分享的預設檢視」定義了整個團隊每週看世界的方式——這是主管最便宜的一次管理投資。</a:t>
            </a:r>
            <a:endParaRPr lang="en-US" sz="1495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第五節・實作 5-4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匯出與匯入記錄：與 Excel 世界雙向通行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106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匯出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清單視圖勾選商機 ▸ 動作 ▸ 匯出：挑欄位（階段、預期收入、成功率）、可存成匯出範本。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 ▸ 動作 ▸ 匯出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匯入記錄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清單視圖的「匯入記錄」：把 Excel 舊名單搬進來——先下載範本、欄位對應後上傳。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匯入記錄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匯入紀律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先拿 10 筆測試（檢查欄位對應與格式），確認無誤再全量匯入。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先小批測試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回公司第一件工程就是它：把 Excel 名單匯進來——資產搬了家，習慣才會跟著搬家。</a:t>
            </a:r>
            <a:endParaRPr lang="en-US" sz="1495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第五節・綜合挑戰（15 分鐘）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期末任務卡：獨立完成六項任務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107</a:t>
            </a:r>
            <a:endParaRPr lang="en-US" sz="1035"/>
          </a:p>
        </p:txBody>
      </p:sp>
      <p:graphicFrame>
        <p:nvGraphicFramePr>
          <p:cNvPr id="10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723585"/>
              </p:ext>
            </p:extLst>
          </p:nvPr>
        </p:nvGraphicFramePr>
        <p:xfrm>
          <a:off x="548640" y="1481328"/>
          <a:ext cx="11091672" cy="409651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任務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配分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建案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新增 3 筆商機：客戶金額自編，分放不同階段、不同結案月份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跟進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為其中 2 筆安排活動；1 筆用「完成，排期下一活動」處理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收尾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筆標「成交」、1 筆標「已損失」（用你自訂的原因）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 答題一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用報表回答：目前的「加權漏斗值」約是多少？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答題二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用預測視圖回答：下個月預計成交金額是多少？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留資產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存一個自訂「最愛」；匯出含階段、預期收入、成功率的 xlsx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9A5B0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獎勵題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把一筆商機標「已損失」→ 篩選找回 →「還原」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8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規則：獨立完成，可翻學員手冊；完成 5 題過關、6 題＋獎勵題＝今日 MVP。</a:t>
            </a:r>
            <a:endParaRPr lang="en-US" sz="1438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9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107</a:t>
            </a:r>
            <a:endParaRPr lang="en-US" sz="1035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第五節・挑戰講評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參考解法與常見失分點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108</a:t>
            </a:r>
            <a:endParaRPr lang="en-US" sz="1035"/>
          </a:p>
        </p:txBody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406260"/>
              </p:ext>
            </p:extLst>
          </p:nvPr>
        </p:nvGraphicFramePr>
        <p:xfrm>
          <a:off x="548640" y="1481328"/>
          <a:ext cx="11091672" cy="35661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參考解法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常見失分點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任務 4 加權漏斗值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匯出各案「預期收入 × 成功率」加總；或樞紐分析表輔助計算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只報漏斗總額，忘了乘成功率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任務 5 下月金額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報告 ▸ 預測：讀下個月欄頂合計（量度＝預期收入）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量度停在「計數」，讀成筆數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任務 6 留資產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最愛 ▸ 儲存目前搜尋；清單 ▸ 動作 ▸ 匯出挑欄位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匯出忘了勾成功率欄位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獎勵題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篩選 ▸ 已損失 → 開啟商機 ▸ 還原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在看板找半天——忘了損失單預設隱藏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48640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804672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答案數值因各自成功率而異，數量級對了就算對——重點是「你已經會自己從系統把答案挖出來」。</a:t>
            </a:r>
            <a:endParaRPr lang="en-US" sz="1495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第五節・管理課題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導入為何失敗？——變革管理，不是 IT 專案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109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三大死因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高層不用：老闆仍靠口頭問進度，系統淪為交作業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資料不進：第一線覺得輸入是負擔，不是幫助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不連動：獎金考核與系統數字無關，誰理它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E8F8F1"/>
          </a:solidFill>
          <a:ln w="12700">
            <a:solidFill>
              <a:srgbClr val="BFE9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E7A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三大關鍵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由上而下：主管「只看系統數字」開會——一週見效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流程先於系統：先講好階段與紀律，再開系統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漸進導入：先一個模組養習慣，再談擴充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工具今天下午就開通了；要「導入」的是行為——而行為，是管理者的工作，外包不掉。</a:t>
            </a:r>
            <a:endParaRPr lang="en-US" sz="1495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第五節・下一步預覽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成交之後呢？報價到收款的「單一資料流」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113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95"/>
          </a:p>
        </p:txBody>
      </p:sp>
      <p:sp>
        <p:nvSpPr>
          <p:cNvPr id="8" name="Text 6"/>
          <p:cNvSpPr/>
          <p:nvPr/>
        </p:nvSpPr>
        <p:spPr>
          <a:xfrm>
            <a:off x="1225296" y="1572768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 → 報價單</a:t>
            </a:r>
            <a:endParaRPr lang="en-US" sz="1667"/>
          </a:p>
        </p:txBody>
      </p:sp>
      <p:sp>
        <p:nvSpPr>
          <p:cNvPr id="9" name="Text 7"/>
          <p:cNvSpPr/>
          <p:nvPr/>
        </p:nvSpPr>
        <p:spPr>
          <a:xfrm>
            <a:off x="1225296" y="1883664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在成交的商機上直接建立報價單：客戶、金額、窗口自動帶入。</a:t>
            </a:r>
            <a:endParaRPr lang="en-US" sz="1380"/>
          </a:p>
        </p:txBody>
      </p:sp>
      <p:sp>
        <p:nvSpPr>
          <p:cNvPr id="10" name="Text 8"/>
          <p:cNvSpPr/>
          <p:nvPr/>
        </p:nvSpPr>
        <p:spPr>
          <a:xfrm>
            <a:off x="8439912" y="1828800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 App（付費）</a:t>
            </a:r>
            <a:endParaRPr lang="en-US" sz="1265"/>
          </a:p>
        </p:txBody>
      </p:sp>
      <p:sp>
        <p:nvSpPr>
          <p:cNvPr id="11" name="Shape 9"/>
          <p:cNvSpPr/>
          <p:nvPr/>
        </p:nvSpPr>
        <p:spPr>
          <a:xfrm>
            <a:off x="548640" y="2688336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713232" y="303580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95"/>
          </a:p>
        </p:txBody>
      </p:sp>
      <p:sp>
        <p:nvSpPr>
          <p:cNvPr id="13" name="Text 11"/>
          <p:cNvSpPr/>
          <p:nvPr/>
        </p:nvSpPr>
        <p:spPr>
          <a:xfrm>
            <a:off x="1225296" y="2779776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 → 訂單 → 發票</a:t>
            </a:r>
            <a:endParaRPr lang="en-US" sz="1667"/>
          </a:p>
        </p:txBody>
      </p:sp>
      <p:sp>
        <p:nvSpPr>
          <p:cNvPr id="14" name="Text 12"/>
          <p:cNvSpPr/>
          <p:nvPr/>
        </p:nvSpPr>
        <p:spPr>
          <a:xfrm>
            <a:off x="1225296" y="3090672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客戶線上確認報價即成訂單，出貨後轉發票——全程不重複輸入。</a:t>
            </a:r>
            <a:endParaRPr lang="en-US" sz="1380"/>
          </a:p>
        </p:txBody>
      </p:sp>
      <p:sp>
        <p:nvSpPr>
          <p:cNvPr id="15" name="Text 13"/>
          <p:cNvSpPr/>
          <p:nvPr/>
        </p:nvSpPr>
        <p:spPr>
          <a:xfrm>
            <a:off x="8439912" y="3035808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同一份資料流</a:t>
            </a:r>
            <a:endParaRPr lang="en-US" sz="1265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11091672" cy="1078992"/>
          </a:xfrm>
          <a:prstGeom prst="roundRect">
            <a:avLst>
              <a:gd name="adj" fmla="val 6780"/>
            </a:avLst>
          </a:prstGeom>
          <a:solidFill>
            <a:srgbClr val="F4FAFA"/>
          </a:solidFill>
          <a:ln w="9525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713232" y="424281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5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95"/>
          </a:p>
        </p:txBody>
      </p:sp>
      <p:sp>
        <p:nvSpPr>
          <p:cNvPr id="18" name="Text 16"/>
          <p:cNvSpPr/>
          <p:nvPr/>
        </p:nvSpPr>
        <p:spPr>
          <a:xfrm>
            <a:off x="1225296" y="3986784"/>
            <a:ext cx="7123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67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管理意義</a:t>
            </a:r>
            <a:endParaRPr lang="en-US" sz="1667"/>
          </a:p>
        </p:txBody>
      </p:sp>
      <p:sp>
        <p:nvSpPr>
          <p:cNvPr id="19" name="Text 17"/>
          <p:cNvSpPr/>
          <p:nvPr/>
        </p:nvSpPr>
        <p:spPr>
          <a:xfrm>
            <a:off x="1225296" y="4297680"/>
            <a:ext cx="7123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80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「業務講的數字」與「財務記的數字」第一次天生一致——對帳文化的終結。</a:t>
            </a:r>
            <a:endParaRPr lang="en-US" sz="1380"/>
          </a:p>
        </p:txBody>
      </p:sp>
      <p:sp>
        <p:nvSpPr>
          <p:cNvPr id="20" name="Text 18"/>
          <p:cNvSpPr/>
          <p:nvPr/>
        </p:nvSpPr>
        <p:spPr>
          <a:xfrm>
            <a:off x="8439912" y="4242816"/>
            <a:ext cx="3063240" cy="384048"/>
          </a:xfrm>
          <a:prstGeom prst="roundRect">
            <a:avLst>
              <a:gd name="adj" fmla="val 38095"/>
            </a:avLst>
          </a:prstGeom>
          <a:solidFill>
            <a:srgbClr val="E7F4F4"/>
          </a:solidFill>
          <a:ln w="9525">
            <a:solidFill>
              <a:srgbClr val="D6E8E8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65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單一事實來源</a:t>
            </a:r>
            <a:endParaRPr lang="en-US" sz="1265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這一頁是預告不是作業：等 CRM 習慣養成、免費期驗證完，這是付費擴充的第一站。</a:t>
            </a:r>
            <a:endParaRPr lang="en-US" sz="1495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第五節・成本結構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免費到付費的那條線，畫在哪裡？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114</a:t>
            </a:r>
            <a:endParaRPr lang="en-US" sz="1035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AFA"/>
          </a:solidFill>
          <a:ln w="12700">
            <a:solidFill>
              <a:srgbClr val="D6E8E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04672" y="1664208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0280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免費期（本課狀態）</a:t>
            </a:r>
            <a:endParaRPr lang="en-US" sz="1782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64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只裝 CRM 一個 App：永久免費、人數不限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含官方雲端主機、每日備份、行動版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適合：試點、養習慣、驗證流程</a:t>
            </a:r>
            <a:endParaRPr lang="en-US" sz="1438"/>
          </a:p>
        </p:txBody>
      </p:sp>
      <p:sp>
        <p:nvSpPr>
          <p:cNvPr id="9" name="Shape 7"/>
          <p:cNvSpPr/>
          <p:nvPr/>
        </p:nvSpPr>
        <p:spPr>
          <a:xfrm>
            <a:off x="6217920" y="1481328"/>
            <a:ext cx="5422392" cy="3566160"/>
          </a:xfrm>
          <a:prstGeom prst="roundRect">
            <a:avLst>
              <a:gd name="adj" fmla="val 2564"/>
            </a:avLst>
          </a:prstGeom>
          <a:solidFill>
            <a:srgbClr val="FDF3E2"/>
          </a:solidFill>
          <a:ln w="12700">
            <a:solidFill>
              <a:srgbClr val="F0D9B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73952" y="1664208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82" b="1">
                <a:solidFill>
                  <a:srgbClr val="9A5B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付費後（裝第 2 個 App 起）</a:t>
            </a:r>
            <a:endParaRPr lang="en-US" sz="1782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全資料庫改按「使用者人數」計費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Standard 方案約 US$24.9／人／月（2026 牌價，以官網為準）——一價含所有 App</a:t>
            </a:r>
            <a:endParaRPr lang="en-US" sz="1438"/>
          </a:p>
          <a:p>
            <a:pPr marL="177800" indent="-177800">
              <a:spcAft>
                <a:spcPts val="800"/>
              </a:spcAft>
              <a:buSzPct val="100000"/>
              <a:buChar char="▸"/>
            </a:pPr>
            <a:r>
              <a:rPr lang="en-US" sz="1438">
                <a:solidFill>
                  <a:srgbClr val="3A55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決策框架：免費驗證 → 用量證明 → 再付費擴充</a:t>
            </a:r>
            <a:endParaRPr lang="en-US" sz="1438"/>
          </a:p>
        </p:txBody>
      </p:sp>
      <p:sp>
        <p:nvSpPr>
          <p:cNvPr id="12" name="Shape 10"/>
          <p:cNvSpPr/>
          <p:nvPr/>
        </p:nvSpPr>
        <p:spPr>
          <a:xfrm>
            <a:off x="548640" y="5394960"/>
            <a:ext cx="11091672" cy="640080"/>
          </a:xfrm>
          <a:prstGeom prst="roundRect">
            <a:avLst>
              <a:gd name="adj" fmla="val 14286"/>
            </a:avLst>
          </a:prstGeom>
          <a:solidFill>
            <a:srgbClr val="0E3A42"/>
          </a:solidFill>
          <a:ln w="12700">
            <a:solidFill>
              <a:srgbClr val="0E3A4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04672" y="53949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5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關鍵觀念　</a:t>
            </a:r>
            <a:r>
              <a:rPr lang="en-US" sz="1495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換算：5 人團隊全套 ERP 月費約一頓部門聚餐——貴不貴，取決於你有沒有先把「會用」養出來。</a:t>
            </a:r>
            <a:endParaRPr lang="en-US" sz="1495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第五節・常見問題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 FAQ：學員最常問的五題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</a:t>
            </a:r>
            <a:endParaRPr lang="en-US" sz="1035"/>
          </a:p>
        </p:txBody>
      </p:sp>
      <p:graphicFrame>
        <p:nvGraphicFramePr>
          <p:cNvPr id="1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071509"/>
              </p:ext>
            </p:extLst>
          </p:nvPr>
        </p:nvGraphicFramePr>
        <p:xfrm>
          <a:off x="548640" y="1481328"/>
          <a:ext cx="11091672" cy="427939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回答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免費會不會突然變收費？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不會。只裝 1 個 App 就持續免費；是「你自己安裝第 2 個 App」才觸發付費，主導權在你。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15 天試用到期會怎樣？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只保留 1 個 App 即自動回到永久免費，資料原封不動；若裝了多個 App，需訂閱或移除多的。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資料放雲端安全嗎？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Odoo Online 官方代管，含每日備份與傳輸加密；高敏感產業另依公司雲端政策評估。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可以匯入舊客戶 Excel 嗎？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可以：聯絡人與商機都支援 xlsx／csv「匯入記錄」，欄位可自行對應。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中文支援到什麼程度？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介面繁體中文完整（本教材用詞即比照官方語言檔）；官方文件以英文為主，中文社群資源豐富。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8" name="Text 5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</a:t>
            </a:r>
            <a:endParaRPr lang="en-US" sz="1035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kern="0" spc="200">
                <a:solidFill>
                  <a:srgbClr val="00A8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第五節・常見問題 2</a:t>
            </a:r>
            <a:endParaRPr lang="en-US" sz="138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109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35" b="1">
                <a:solidFill>
                  <a:srgbClr val="0E3A4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進階五題：多人、權限、客製、匯入、API</a:t>
            </a:r>
            <a:endParaRPr lang="en-US" sz="3335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5" name="Text 3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116</a:t>
            </a:r>
            <a:endParaRPr lang="en-US" sz="1035"/>
          </a:p>
        </p:txBody>
      </p:sp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771243"/>
              </p:ext>
            </p:extLst>
          </p:nvPr>
        </p:nvGraphicFramePr>
        <p:xfrm>
          <a:off x="548640" y="1481328"/>
          <a:ext cx="11091672" cy="4279392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問題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95" b="1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回答</a:t>
                      </a:r>
                      <a:endParaRPr lang="en-US" sz="1495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免費方案可以多人共用嗎？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可以，人數不限：設定中邀請使用者（輸入電子郵件），對方收信啟用即可加入同一資料庫。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權限可以控管嗎？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可以指定使用者的權限等級（一般使用者／管理員等）；更細緻的權限規則屬進階題，導入時再依官方文件設計。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可以客製欄位與畫面嗎？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免費方案不含拖拉式客製工具；但階段、標籤、損失原因、活動類型這類「設定級」客製全部可做——課堂都做過了。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匯入量有沒有上限？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實務建議：先 10 筆試匯驗證欄位對應，再分批全量；數千筆等級屬正常使用範圍。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80" b="1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 API 可以串接嗎？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80">
                          <a:solidFill>
                            <a:srgbClr val="3A555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Odoo 提供開發者 API 可與其他系統整合；屬技術題，正式導入時交由資訊人員依官方文件評估。</a:t>
                      </a:r>
                      <a:endParaRPr lang="en-US" sz="138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51052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顧客關係管理實務：以 Odoo CRM 為例｜EMBA 管理實務工作坊</a:t>
            </a:r>
            <a:endParaRPr lang="en-US" sz="1035"/>
          </a:p>
        </p:txBody>
      </p:sp>
      <p:sp>
        <p:nvSpPr>
          <p:cNvPr id="8" name="Text 5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6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116</a:t>
            </a:r>
            <a:endParaRPr lang="en-US" sz="1035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06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754880" cy="4754880"/>
          </a:xfrm>
          <a:prstGeom prst="ellipse">
            <a:avLst/>
          </a:prstGeom>
          <a:solidFill>
            <a:srgbClr val="0A3E4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4389120" cy="4389120"/>
          </a:xfrm>
          <a:prstGeom prst="ellipse">
            <a:avLst/>
          </a:prstGeom>
          <a:solidFill>
            <a:srgbClr val="0C47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685800" y="192024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1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6210"/>
          </a:p>
        </p:txBody>
      </p:sp>
      <p:sp>
        <p:nvSpPr>
          <p:cNvPr id="5" name="Text 3"/>
          <p:cNvSpPr/>
          <p:nvPr/>
        </p:nvSpPr>
        <p:spPr>
          <a:xfrm>
            <a:off x="713232" y="3200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系統是你的了——別讓它荒廢。</a:t>
            </a:r>
            <a:endParaRPr lang="en-US" sz="2300"/>
          </a:p>
        </p:txBody>
      </p:sp>
      <p:sp>
        <p:nvSpPr>
          <p:cNvPr id="6" name="Shape 4"/>
          <p:cNvSpPr/>
          <p:nvPr/>
        </p:nvSpPr>
        <p:spPr>
          <a:xfrm>
            <a:off x="713232" y="5166360"/>
            <a:ext cx="10698480" cy="0"/>
          </a:xfrm>
          <a:prstGeom prst="line">
            <a:avLst/>
          </a:prstGeom>
          <a:noFill/>
          <a:ln w="12700">
            <a:solidFill>
              <a:srgbClr val="155A6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13232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40" b="1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授課教師　</a:t>
            </a:r>
            <a:r>
              <a:rPr lang="en-US" sz="1840" b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林土量　</a:t>
            </a:r>
            <a:r>
              <a:rPr lang="en-US" sz="1840">
                <a:solidFill>
                  <a:srgbClr val="9FD8D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國立嘉義大學</a:t>
            </a:r>
            <a:endParaRPr lang="en-US" sz="1840"/>
          </a:p>
        </p:txBody>
      </p:sp>
      <p:sp>
        <p:nvSpPr>
          <p:cNvPr id="8" name="Text 6"/>
          <p:cNvSpPr/>
          <p:nvPr/>
        </p:nvSpPr>
        <p:spPr>
          <a:xfrm>
            <a:off x="1129284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35">
                <a:solidFill>
                  <a:srgbClr val="5E8A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</a:t>
            </a:r>
            <a:endParaRPr lang="en-US" sz="103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FB29096-62D8-4678-BC98-D96BDB1C3EB2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a883bfd6-2b6e-4399-949b-5f9ff140dbc7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12260A5-4562-4E42-AF37-E6B15E48CFA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833e267-65a1-47a3-828b-7c616dcf9bb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19344</Words>
  <Application>Microsoft Office PowerPoint</Application>
  <PresentationFormat>Widescreen</PresentationFormat>
  <Paragraphs>2751</Paragraphs>
  <Slides>110</Slides>
  <Notes>110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3" baseType="lpstr">
      <vt:lpstr>Microsoft JhengHei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林土量</cp:lastModifiedBy>
  <cp:revision>10</cp:revision>
  <dcterms:created xsi:type="dcterms:W3CDTF">2026-07-15T03:23:47Z</dcterms:created>
  <dcterms:modified xsi:type="dcterms:W3CDTF">2026-07-24T13:20:14Z</dcterms:modified>
</cp:coreProperties>
</file>